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4630400" cy="8229600"/>
  <p:notesSz cx="8229600" cy="14630400"/>
  <p:embeddedFontLst>
    <p:embeddedFont>
      <p:font typeface="Geist" panose="020B0604020202020204" charset="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F1D964C-E6D2-D8F7-ED3D-D7207F6905E2}" v="62" dt="2025-11-17T12:49:32.175"/>
    <p1510:client id="{B57DE48B-3CE3-FE53-DD59-4CB4624C4844}" v="10" dt="2025-11-17T12:49:05.8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565525" cy="7334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660900" y="0"/>
            <a:ext cx="3567113" cy="733425"/>
          </a:xfrm>
          <a:prstGeom prst="rect">
            <a:avLst/>
          </a:prstGeom>
        </p:spPr>
        <p:txBody>
          <a:bodyPr vert="horz" lIns="91440" tIns="45720" rIns="91440" bIns="45720" rtlCol="0"/>
          <a:lstStyle>
            <a:lvl1pPr algn="r">
              <a:defRPr sz="1200"/>
            </a:lvl1pPr>
          </a:lstStyle>
          <a:p>
            <a:fld id="{6F87F073-72C4-4D49-A610-897834DD1BE9}" type="datetimeFigureOut">
              <a:t>11/17/2025</a:t>
            </a:fld>
            <a:endParaRPr lang="en-US"/>
          </a:p>
        </p:txBody>
      </p:sp>
      <p:sp>
        <p:nvSpPr>
          <p:cNvPr id="4" name="Slide Image Placeholder 3"/>
          <p:cNvSpPr>
            <a:spLocks noGrp="1" noRot="1" noChangeAspect="1"/>
          </p:cNvSpPr>
          <p:nvPr>
            <p:ph type="sldImg" idx="2"/>
          </p:nvPr>
        </p:nvSpPr>
        <p:spPr>
          <a:xfrm>
            <a:off x="-273050" y="1828800"/>
            <a:ext cx="8775700" cy="49371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822325" y="7040563"/>
            <a:ext cx="6584950" cy="57610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896975"/>
            <a:ext cx="3565525" cy="7334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660900" y="13896975"/>
            <a:ext cx="3567113" cy="733425"/>
          </a:xfrm>
          <a:prstGeom prst="rect">
            <a:avLst/>
          </a:prstGeom>
        </p:spPr>
        <p:txBody>
          <a:bodyPr vert="horz" lIns="91440" tIns="45720" rIns="91440" bIns="45720" rtlCol="0" anchor="b"/>
          <a:lstStyle>
            <a:lvl1pPr algn="r">
              <a:defRPr sz="1200"/>
            </a:lvl1pPr>
          </a:lstStyle>
          <a:p>
            <a:fld id="{C0362E46-4FC5-4E8F-A473-B31022BFB11D}" type="slidenum">
              <a:t>‹#›</a:t>
            </a:fld>
            <a:endParaRPr lang="en-US"/>
          </a:p>
        </p:txBody>
      </p:sp>
    </p:spTree>
    <p:extLst>
      <p:ext uri="{BB962C8B-B14F-4D97-AF65-F5344CB8AC3E}">
        <p14:creationId xmlns:p14="http://schemas.microsoft.com/office/powerpoint/2010/main" val="3661302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1620">
              <a:alpha val="95000"/>
            </a:srgbClr>
          </a:solidFill>
          <a:ln/>
        </p:spPr>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sv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9.sv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 Id="rId14" Type="http://schemas.openxmlformats.org/officeDocument/2006/relationships/image" Target="../media/image17.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34.svg"/><Relationship Id="rId5" Type="http://schemas.openxmlformats.org/officeDocument/2006/relationships/image" Target="../media/image33.png"/><Relationship Id="rId10" Type="http://schemas.openxmlformats.org/officeDocument/2006/relationships/image" Target="../media/image38.svg"/><Relationship Id="rId4" Type="http://schemas.openxmlformats.org/officeDocument/2006/relationships/image" Target="../media/image32.svg"/><Relationship Id="rId9"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760720" cy="8229600"/>
          </a:xfrm>
          <a:prstGeom prst="rect">
            <a:avLst/>
          </a:prstGeom>
        </p:spPr>
      </p:pic>
      <p:sp>
        <p:nvSpPr>
          <p:cNvPr id="3" name="Text 0"/>
          <p:cNvSpPr/>
          <p:nvPr/>
        </p:nvSpPr>
        <p:spPr>
          <a:xfrm>
            <a:off x="6280190" y="2396847"/>
            <a:ext cx="7556421" cy="2211348"/>
          </a:xfrm>
          <a:prstGeom prst="rect">
            <a:avLst/>
          </a:prstGeom>
          <a:noFill/>
          <a:ln/>
        </p:spPr>
        <p:txBody>
          <a:bodyPr wrap="square" lIns="0" tIns="0" rIns="0" bIns="0" rtlCol="0" anchor="t"/>
          <a:lstStyle/>
          <a:p>
            <a:pPr marL="0" indent="0" algn="l">
              <a:lnSpc>
                <a:spcPts val="5800"/>
              </a:lnSpc>
              <a:buNone/>
            </a:pPr>
            <a:r>
              <a:rPr lang="en-US" sz="4450" b="1" dirty="0">
                <a:solidFill>
                  <a:srgbClr val="F2F5FA"/>
                </a:solidFill>
                <a:latin typeface="Geist Bold" pitchFamily="34" charset="0"/>
                <a:ea typeface="Geist Bold" pitchFamily="34" charset="-122"/>
                <a:cs typeface="Geist Bold" pitchFamily="34" charset="-120"/>
              </a:rPr>
              <a:t>Customer Churn Analysis &amp; Prediction: Turning Data into Retention Strategy</a:t>
            </a:r>
            <a:endParaRPr lang="en-US" sz="4450" dirty="0"/>
          </a:p>
        </p:txBody>
      </p:sp>
      <p:sp>
        <p:nvSpPr>
          <p:cNvPr id="4" name="Text 1"/>
          <p:cNvSpPr/>
          <p:nvPr/>
        </p:nvSpPr>
        <p:spPr>
          <a:xfrm>
            <a:off x="6280190" y="4948357"/>
            <a:ext cx="7556421" cy="884396"/>
          </a:xfrm>
          <a:prstGeom prst="rect">
            <a:avLst/>
          </a:prstGeom>
          <a:noFill/>
          <a:ln/>
        </p:spPr>
        <p:txBody>
          <a:bodyPr wrap="square" lIns="0" tIns="0" rIns="0" bIns="0" rtlCol="0" anchor="t"/>
          <a:lstStyle/>
          <a:p>
            <a:pPr marL="0" indent="0" algn="l">
              <a:lnSpc>
                <a:spcPts val="2300"/>
              </a:lnSpc>
              <a:buNone/>
            </a:pPr>
            <a:r>
              <a:rPr lang="en-US" sz="1750" dirty="0">
                <a:solidFill>
                  <a:srgbClr val="EBEDF0"/>
                </a:solidFill>
                <a:latin typeface="Geist" pitchFamily="34" charset="0"/>
                <a:ea typeface="Geist" pitchFamily="34" charset="-122"/>
                <a:cs typeface="Geist" pitchFamily="34" charset="-120"/>
              </a:rPr>
              <a:t>Harness the power of predictive analytics to identify at-risk customers before they leave. Transform raw data into actionable retention strategies that protect your revenue and strengthen customer relationships.</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760720" cy="8229600"/>
          </a:xfrm>
          <a:prstGeom prst="rect">
            <a:avLst/>
          </a:prstGeom>
        </p:spPr>
      </p:pic>
      <p:sp>
        <p:nvSpPr>
          <p:cNvPr id="3" name="Text 0"/>
          <p:cNvSpPr/>
          <p:nvPr/>
        </p:nvSpPr>
        <p:spPr>
          <a:xfrm>
            <a:off x="6208276" y="787241"/>
            <a:ext cx="7700248" cy="2010966"/>
          </a:xfrm>
          <a:prstGeom prst="rect">
            <a:avLst/>
          </a:prstGeom>
          <a:noFill/>
          <a:ln/>
        </p:spPr>
        <p:txBody>
          <a:bodyPr wrap="square" lIns="0" tIns="0" rIns="0" bIns="0" rtlCol="0" anchor="t"/>
          <a:lstStyle/>
          <a:p>
            <a:pPr marL="0" indent="0" algn="l">
              <a:lnSpc>
                <a:spcPts val="5250"/>
              </a:lnSpc>
              <a:buNone/>
            </a:pPr>
            <a:r>
              <a:rPr lang="en-US" sz="4050" b="1" dirty="0">
                <a:solidFill>
                  <a:srgbClr val="F2F5FA"/>
                </a:solidFill>
                <a:latin typeface="Geist Bold" pitchFamily="34" charset="0"/>
                <a:ea typeface="Geist Bold" pitchFamily="34" charset="-122"/>
                <a:cs typeface="Geist Bold" pitchFamily="34" charset="-120"/>
              </a:rPr>
              <a:t>Understanding Customer Churn: What It Means for Your Business Bottom Line</a:t>
            </a:r>
            <a:endParaRPr lang="en-US" sz="4050" dirty="0"/>
          </a:p>
        </p:txBody>
      </p:sp>
      <p:sp>
        <p:nvSpPr>
          <p:cNvPr id="4" name="Text 1"/>
          <p:cNvSpPr/>
          <p:nvPr/>
        </p:nvSpPr>
        <p:spPr>
          <a:xfrm>
            <a:off x="6208276" y="3313748"/>
            <a:ext cx="3205401" cy="335042"/>
          </a:xfrm>
          <a:prstGeom prst="rect">
            <a:avLst/>
          </a:prstGeom>
          <a:noFill/>
          <a:ln/>
        </p:spPr>
        <p:txBody>
          <a:bodyPr wrap="none" lIns="0" tIns="0" rIns="0" bIns="0" rtlCol="0" anchor="t"/>
          <a:lstStyle/>
          <a:p>
            <a:pPr marL="0" indent="0" algn="l">
              <a:lnSpc>
                <a:spcPts val="2600"/>
              </a:lnSpc>
              <a:buNone/>
            </a:pPr>
            <a:r>
              <a:rPr lang="en-US" sz="2000" b="1" dirty="0">
                <a:solidFill>
                  <a:srgbClr val="F2F5FA"/>
                </a:solidFill>
                <a:latin typeface="Geist Bold" pitchFamily="34" charset="0"/>
                <a:ea typeface="Geist Bold" pitchFamily="34" charset="-122"/>
                <a:cs typeface="Geist Bold" pitchFamily="34" charset="-120"/>
              </a:rPr>
              <a:t>What is Customer Churn?</a:t>
            </a:r>
            <a:endParaRPr lang="en-US" sz="2000" dirty="0"/>
          </a:p>
        </p:txBody>
      </p:sp>
      <p:sp>
        <p:nvSpPr>
          <p:cNvPr id="5" name="Text 2"/>
          <p:cNvSpPr/>
          <p:nvPr/>
        </p:nvSpPr>
        <p:spPr>
          <a:xfrm>
            <a:off x="6208276" y="3855006"/>
            <a:ext cx="3598545" cy="1876068"/>
          </a:xfrm>
          <a:prstGeom prst="rect">
            <a:avLst/>
          </a:prstGeom>
          <a:noFill/>
          <a:ln/>
        </p:spPr>
        <p:txBody>
          <a:bodyPr wrap="square" lIns="0" tIns="0" rIns="0" bIns="0" rtlCol="0" anchor="t"/>
          <a:lstStyle/>
          <a:p>
            <a:pPr marL="0" indent="0" algn="l">
              <a:lnSpc>
                <a:spcPts val="2100"/>
              </a:lnSpc>
              <a:buNone/>
            </a:pPr>
            <a:r>
              <a:rPr lang="en-US" sz="1600" dirty="0">
                <a:solidFill>
                  <a:srgbClr val="EBEDF0"/>
                </a:solidFill>
                <a:latin typeface="Geist" pitchFamily="34" charset="0"/>
                <a:ea typeface="Geist" pitchFamily="34" charset="-122"/>
                <a:cs typeface="Geist" pitchFamily="34" charset="-120"/>
              </a:rPr>
              <a:t>Customer churn refers to the percentage of customers who discontinue using your product or service during a specific time period. It's a critical metric that directly impacts revenue, growth trajectory, and long-term business sustainability.</a:t>
            </a:r>
            <a:endParaRPr lang="en-US" sz="1600" dirty="0"/>
          </a:p>
        </p:txBody>
      </p:sp>
      <p:sp>
        <p:nvSpPr>
          <p:cNvPr id="6" name="Text 3"/>
          <p:cNvSpPr/>
          <p:nvPr/>
        </p:nvSpPr>
        <p:spPr>
          <a:xfrm>
            <a:off x="6208276" y="5916692"/>
            <a:ext cx="3598545" cy="1340048"/>
          </a:xfrm>
          <a:prstGeom prst="rect">
            <a:avLst/>
          </a:prstGeom>
          <a:noFill/>
          <a:ln/>
        </p:spPr>
        <p:txBody>
          <a:bodyPr wrap="square" lIns="0" tIns="0" rIns="0" bIns="0" rtlCol="0" anchor="t"/>
          <a:lstStyle/>
          <a:p>
            <a:pPr marL="0" indent="0" algn="l">
              <a:lnSpc>
                <a:spcPts val="2100"/>
              </a:lnSpc>
              <a:buNone/>
            </a:pPr>
            <a:r>
              <a:rPr lang="en-US" sz="1600" dirty="0">
                <a:solidFill>
                  <a:srgbClr val="EBEDF0"/>
                </a:solidFill>
                <a:latin typeface="Geist" pitchFamily="34" charset="0"/>
                <a:ea typeface="Geist" pitchFamily="34" charset="-122"/>
                <a:cs typeface="Geist" pitchFamily="34" charset="-120"/>
              </a:rPr>
              <a:t>Understanding churn patterns helps organisations anticipate revenue loss, identify service gaps, and implement targeted interventions to retain valuable customers.</a:t>
            </a:r>
            <a:endParaRPr lang="en-US" sz="1600" dirty="0"/>
          </a:p>
        </p:txBody>
      </p:sp>
      <p:sp>
        <p:nvSpPr>
          <p:cNvPr id="7" name="Text 4"/>
          <p:cNvSpPr/>
          <p:nvPr/>
        </p:nvSpPr>
        <p:spPr>
          <a:xfrm>
            <a:off x="10317599" y="3313748"/>
            <a:ext cx="2578179" cy="335042"/>
          </a:xfrm>
          <a:prstGeom prst="rect">
            <a:avLst/>
          </a:prstGeom>
          <a:noFill/>
          <a:ln/>
        </p:spPr>
        <p:txBody>
          <a:bodyPr wrap="none" lIns="0" tIns="0" rIns="0" bIns="0" rtlCol="0" anchor="t"/>
          <a:lstStyle/>
          <a:p>
            <a:pPr marL="0" indent="0" algn="l">
              <a:lnSpc>
                <a:spcPts val="2600"/>
              </a:lnSpc>
              <a:buNone/>
            </a:pPr>
            <a:r>
              <a:rPr lang="en-US" sz="2000" b="1" dirty="0">
                <a:solidFill>
                  <a:srgbClr val="F2F5FA"/>
                </a:solidFill>
                <a:latin typeface="Geist Bold" pitchFamily="34" charset="0"/>
                <a:ea typeface="Geist Bold" pitchFamily="34" charset="-122"/>
                <a:cs typeface="Geist Bold" pitchFamily="34" charset="-120"/>
              </a:rPr>
              <a:t>Types of Churn</a:t>
            </a:r>
            <a:endParaRPr lang="en-US" sz="2000" dirty="0"/>
          </a:p>
        </p:txBody>
      </p:sp>
      <p:sp>
        <p:nvSpPr>
          <p:cNvPr id="8" name="Text 5"/>
          <p:cNvSpPr/>
          <p:nvPr/>
        </p:nvSpPr>
        <p:spPr>
          <a:xfrm>
            <a:off x="10317599" y="3855006"/>
            <a:ext cx="3598545" cy="1072039"/>
          </a:xfrm>
          <a:prstGeom prst="rect">
            <a:avLst/>
          </a:prstGeom>
          <a:noFill/>
          <a:ln/>
        </p:spPr>
        <p:txBody>
          <a:bodyPr wrap="square" lIns="0" tIns="0" rIns="0" bIns="0" rtlCol="0" anchor="t"/>
          <a:lstStyle/>
          <a:p>
            <a:pPr marL="342900" indent="-342900" algn="l">
              <a:lnSpc>
                <a:spcPts val="2100"/>
              </a:lnSpc>
              <a:buSzPct val="100000"/>
              <a:buChar char="•"/>
            </a:pPr>
            <a:r>
              <a:rPr lang="en-US" sz="1600" b="1" dirty="0">
                <a:solidFill>
                  <a:srgbClr val="EBEDF0"/>
                </a:solidFill>
                <a:latin typeface="Geist" pitchFamily="34" charset="0"/>
                <a:ea typeface="Geist" pitchFamily="34" charset="-122"/>
                <a:cs typeface="Geist" pitchFamily="34" charset="-120"/>
              </a:rPr>
              <a:t>Voluntary Churn:</a:t>
            </a:r>
            <a:r>
              <a:rPr lang="en-US" sz="1600" dirty="0">
                <a:solidFill>
                  <a:srgbClr val="EBEDF0"/>
                </a:solidFill>
                <a:latin typeface="Geist" pitchFamily="34" charset="0"/>
                <a:ea typeface="Geist" pitchFamily="34" charset="-122"/>
                <a:cs typeface="Geist" pitchFamily="34" charset="-120"/>
              </a:rPr>
              <a:t> Customers actively choose to leave due to dissatisfaction, better alternatives, or changing needs</a:t>
            </a:r>
            <a:endParaRPr lang="en-US" sz="1600" dirty="0"/>
          </a:p>
        </p:txBody>
      </p:sp>
      <p:sp>
        <p:nvSpPr>
          <p:cNvPr id="9" name="Text 6"/>
          <p:cNvSpPr/>
          <p:nvPr/>
        </p:nvSpPr>
        <p:spPr>
          <a:xfrm>
            <a:off x="10317599" y="4999196"/>
            <a:ext cx="3598545" cy="804029"/>
          </a:xfrm>
          <a:prstGeom prst="rect">
            <a:avLst/>
          </a:prstGeom>
          <a:noFill/>
          <a:ln/>
        </p:spPr>
        <p:txBody>
          <a:bodyPr wrap="square" lIns="0" tIns="0" rIns="0" bIns="0" rtlCol="0" anchor="t"/>
          <a:lstStyle/>
          <a:p>
            <a:pPr marL="342900" indent="-342900" algn="l">
              <a:lnSpc>
                <a:spcPts val="2100"/>
              </a:lnSpc>
              <a:buSzPct val="100000"/>
              <a:buChar char="•"/>
            </a:pPr>
            <a:r>
              <a:rPr lang="en-US" sz="1600" b="1" dirty="0">
                <a:solidFill>
                  <a:srgbClr val="EBEDF0"/>
                </a:solidFill>
                <a:latin typeface="Geist" pitchFamily="34" charset="0"/>
                <a:ea typeface="Geist" pitchFamily="34" charset="-122"/>
                <a:cs typeface="Geist" pitchFamily="34" charset="-120"/>
              </a:rPr>
              <a:t>Involuntary Churn:</a:t>
            </a:r>
            <a:r>
              <a:rPr lang="en-US" sz="1600" dirty="0">
                <a:solidFill>
                  <a:srgbClr val="EBEDF0"/>
                </a:solidFill>
                <a:latin typeface="Geist" pitchFamily="34" charset="0"/>
                <a:ea typeface="Geist" pitchFamily="34" charset="-122"/>
                <a:cs typeface="Geist" pitchFamily="34" charset="-120"/>
              </a:rPr>
              <a:t> Loss occurs due to payment failures, expired cards, or technical issues</a:t>
            </a:r>
            <a:endParaRPr lang="en-US" sz="1600" dirty="0"/>
          </a:p>
        </p:txBody>
      </p:sp>
      <p:sp>
        <p:nvSpPr>
          <p:cNvPr id="10" name="Text 7"/>
          <p:cNvSpPr/>
          <p:nvPr/>
        </p:nvSpPr>
        <p:spPr>
          <a:xfrm>
            <a:off x="10317599" y="5875377"/>
            <a:ext cx="3598545" cy="1072039"/>
          </a:xfrm>
          <a:prstGeom prst="rect">
            <a:avLst/>
          </a:prstGeom>
          <a:noFill/>
          <a:ln/>
        </p:spPr>
        <p:txBody>
          <a:bodyPr wrap="square" lIns="0" tIns="0" rIns="0" bIns="0" rtlCol="0" anchor="t"/>
          <a:lstStyle/>
          <a:p>
            <a:pPr marL="342900" indent="-342900" algn="l">
              <a:lnSpc>
                <a:spcPts val="2100"/>
              </a:lnSpc>
              <a:buSzPct val="100000"/>
              <a:buChar char="•"/>
            </a:pPr>
            <a:r>
              <a:rPr lang="en-US" sz="1600" b="1" dirty="0">
                <a:solidFill>
                  <a:srgbClr val="EBEDF0"/>
                </a:solidFill>
                <a:latin typeface="Geist" pitchFamily="34" charset="0"/>
                <a:ea typeface="Geist" pitchFamily="34" charset="-122"/>
                <a:cs typeface="Geist" pitchFamily="34" charset="-120"/>
              </a:rPr>
              <a:t>Passive Churn:</a:t>
            </a:r>
            <a:r>
              <a:rPr lang="en-US" sz="1600" dirty="0">
                <a:solidFill>
                  <a:srgbClr val="EBEDF0"/>
                </a:solidFill>
                <a:latin typeface="Geist" pitchFamily="34" charset="0"/>
                <a:ea typeface="Geist" pitchFamily="34" charset="-122"/>
                <a:cs typeface="Geist" pitchFamily="34" charset="-120"/>
              </a:rPr>
              <a:t> Gradual disengagement where customers reduce usage before eventually leaving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27685" y="414576"/>
            <a:ext cx="13575030" cy="979884"/>
          </a:xfrm>
          <a:prstGeom prst="rect">
            <a:avLst/>
          </a:prstGeom>
          <a:noFill/>
          <a:ln/>
        </p:spPr>
        <p:txBody>
          <a:bodyPr wrap="square" lIns="0" tIns="0" rIns="0" bIns="0" rtlCol="0" anchor="t"/>
          <a:lstStyle/>
          <a:p>
            <a:pPr marL="0" indent="0" algn="l">
              <a:lnSpc>
                <a:spcPts val="3850"/>
              </a:lnSpc>
              <a:buNone/>
            </a:pPr>
            <a:r>
              <a:rPr lang="en-US" sz="2950" b="1" dirty="0">
                <a:solidFill>
                  <a:srgbClr val="F2F5FA"/>
                </a:solidFill>
                <a:latin typeface="Geist Bold" pitchFamily="34" charset="0"/>
                <a:ea typeface="Geist Bold" pitchFamily="34" charset="-122"/>
                <a:cs typeface="Geist Bold" pitchFamily="34" charset="-120"/>
              </a:rPr>
              <a:t>The Cost of Losing Customers: Why Retention Beats Acquisition Every Time</a:t>
            </a:r>
            <a:endParaRPr lang="en-US" sz="2950" dirty="0"/>
          </a:p>
        </p:txBody>
      </p:sp>
      <p:sp>
        <p:nvSpPr>
          <p:cNvPr id="3" name="Text 1"/>
          <p:cNvSpPr/>
          <p:nvPr/>
        </p:nvSpPr>
        <p:spPr>
          <a:xfrm>
            <a:off x="527685" y="1771412"/>
            <a:ext cx="4399359" cy="497562"/>
          </a:xfrm>
          <a:prstGeom prst="rect">
            <a:avLst/>
          </a:prstGeom>
          <a:noFill/>
          <a:ln/>
        </p:spPr>
        <p:txBody>
          <a:bodyPr wrap="none" lIns="0" tIns="0" rIns="0" bIns="0" rtlCol="0" anchor="t"/>
          <a:lstStyle/>
          <a:p>
            <a:pPr marL="0" indent="0" algn="ctr">
              <a:lnSpc>
                <a:spcPts val="3900"/>
              </a:lnSpc>
              <a:buNone/>
            </a:pPr>
            <a:r>
              <a:rPr lang="en-US" sz="3900" b="1" dirty="0">
                <a:solidFill>
                  <a:srgbClr val="EBEDF0"/>
                </a:solidFill>
                <a:latin typeface="Geist Bold" pitchFamily="34" charset="0"/>
                <a:ea typeface="Geist Bold" pitchFamily="34" charset="-122"/>
                <a:cs typeface="Geist Bold" pitchFamily="34" charset="-120"/>
              </a:rPr>
              <a:t>5X</a:t>
            </a:r>
            <a:endParaRPr lang="en-US" sz="3900" dirty="0"/>
          </a:p>
        </p:txBody>
      </p:sp>
      <p:sp>
        <p:nvSpPr>
          <p:cNvPr id="4" name="Text 2"/>
          <p:cNvSpPr/>
          <p:nvPr/>
        </p:nvSpPr>
        <p:spPr>
          <a:xfrm>
            <a:off x="1640443" y="2457331"/>
            <a:ext cx="2173843" cy="244912"/>
          </a:xfrm>
          <a:prstGeom prst="rect">
            <a:avLst/>
          </a:prstGeom>
          <a:noFill/>
          <a:ln/>
        </p:spPr>
        <p:txBody>
          <a:bodyPr wrap="none" lIns="0" tIns="0" rIns="0" bIns="0" rtlCol="0" anchor="t"/>
          <a:lstStyle/>
          <a:p>
            <a:pPr marL="0" indent="0" algn="ctr">
              <a:lnSpc>
                <a:spcPts val="1900"/>
              </a:lnSpc>
              <a:buNone/>
            </a:pPr>
            <a:r>
              <a:rPr lang="en-US" sz="1450" b="1" dirty="0">
                <a:solidFill>
                  <a:srgbClr val="EBEDF0"/>
                </a:solidFill>
                <a:latin typeface="Geist Bold" pitchFamily="34" charset="0"/>
                <a:ea typeface="Geist Bold" pitchFamily="34" charset="-122"/>
                <a:cs typeface="Geist Bold" pitchFamily="34" charset="-120"/>
              </a:rPr>
              <a:t>Higher Acquisition Cost</a:t>
            </a:r>
            <a:endParaRPr lang="en-US" sz="1450" dirty="0"/>
          </a:p>
        </p:txBody>
      </p:sp>
      <p:sp>
        <p:nvSpPr>
          <p:cNvPr id="5" name="Text 3"/>
          <p:cNvSpPr/>
          <p:nvPr/>
        </p:nvSpPr>
        <p:spPr>
          <a:xfrm>
            <a:off x="527685" y="2792611"/>
            <a:ext cx="4399359" cy="392192"/>
          </a:xfrm>
          <a:prstGeom prst="rect">
            <a:avLst/>
          </a:prstGeom>
          <a:noFill/>
          <a:ln/>
        </p:spPr>
        <p:txBody>
          <a:bodyPr wrap="square" lIns="0" tIns="0" rIns="0" bIns="0" rtlCol="0" anchor="t"/>
          <a:lstStyle/>
          <a:p>
            <a:pPr marL="0" indent="0" algn="ctr">
              <a:lnSpc>
                <a:spcPts val="1500"/>
              </a:lnSpc>
              <a:buNone/>
            </a:pPr>
            <a:r>
              <a:rPr lang="en-US" sz="1150" dirty="0">
                <a:solidFill>
                  <a:srgbClr val="EBEDF0"/>
                </a:solidFill>
                <a:latin typeface="Geist" pitchFamily="34" charset="0"/>
                <a:ea typeface="Geist" pitchFamily="34" charset="-122"/>
                <a:cs typeface="Geist" pitchFamily="34" charset="-120"/>
              </a:rPr>
              <a:t>Acquiring a new customer costs five times more than retaining an existing one</a:t>
            </a:r>
            <a:endParaRPr lang="en-US" sz="1150" dirty="0"/>
          </a:p>
        </p:txBody>
      </p:sp>
      <p:sp>
        <p:nvSpPr>
          <p:cNvPr id="6" name="Text 4"/>
          <p:cNvSpPr/>
          <p:nvPr/>
        </p:nvSpPr>
        <p:spPr>
          <a:xfrm>
            <a:off x="5115520" y="1771412"/>
            <a:ext cx="4399359" cy="497562"/>
          </a:xfrm>
          <a:prstGeom prst="rect">
            <a:avLst/>
          </a:prstGeom>
          <a:noFill/>
          <a:ln/>
        </p:spPr>
        <p:txBody>
          <a:bodyPr wrap="none" lIns="0" tIns="0" rIns="0" bIns="0" rtlCol="0" anchor="t"/>
          <a:lstStyle/>
          <a:p>
            <a:pPr marL="0" indent="0" algn="ctr">
              <a:lnSpc>
                <a:spcPts val="3900"/>
              </a:lnSpc>
              <a:buNone/>
            </a:pPr>
            <a:r>
              <a:rPr lang="en-US" sz="3900" b="1" dirty="0">
                <a:solidFill>
                  <a:srgbClr val="EBEDF0"/>
                </a:solidFill>
                <a:latin typeface="Geist Bold" pitchFamily="34" charset="0"/>
                <a:ea typeface="Geist Bold" pitchFamily="34" charset="-122"/>
                <a:cs typeface="Geist Bold" pitchFamily="34" charset="-120"/>
              </a:rPr>
              <a:t>25%</a:t>
            </a:r>
            <a:endParaRPr lang="en-US" sz="3900" dirty="0"/>
          </a:p>
        </p:txBody>
      </p:sp>
      <p:sp>
        <p:nvSpPr>
          <p:cNvPr id="7" name="Text 5"/>
          <p:cNvSpPr/>
          <p:nvPr/>
        </p:nvSpPr>
        <p:spPr>
          <a:xfrm>
            <a:off x="6194227" y="2457331"/>
            <a:ext cx="2241828" cy="244912"/>
          </a:xfrm>
          <a:prstGeom prst="rect">
            <a:avLst/>
          </a:prstGeom>
          <a:noFill/>
          <a:ln/>
        </p:spPr>
        <p:txBody>
          <a:bodyPr wrap="none" lIns="0" tIns="0" rIns="0" bIns="0" rtlCol="0" anchor="t"/>
          <a:lstStyle/>
          <a:p>
            <a:pPr marL="0" indent="0" algn="ctr">
              <a:lnSpc>
                <a:spcPts val="1900"/>
              </a:lnSpc>
              <a:buNone/>
            </a:pPr>
            <a:r>
              <a:rPr lang="en-US" sz="1450" b="1" dirty="0">
                <a:solidFill>
                  <a:srgbClr val="EBEDF0"/>
                </a:solidFill>
                <a:latin typeface="Geist Bold" pitchFamily="34" charset="0"/>
                <a:ea typeface="Geist Bold" pitchFamily="34" charset="-122"/>
                <a:cs typeface="Geist Bold" pitchFamily="34" charset="-120"/>
              </a:rPr>
              <a:t>Profit Increase Potential</a:t>
            </a:r>
            <a:endParaRPr lang="en-US" sz="1450" dirty="0"/>
          </a:p>
        </p:txBody>
      </p:sp>
      <p:sp>
        <p:nvSpPr>
          <p:cNvPr id="8" name="Text 6"/>
          <p:cNvSpPr/>
          <p:nvPr/>
        </p:nvSpPr>
        <p:spPr>
          <a:xfrm>
            <a:off x="5115520" y="2792611"/>
            <a:ext cx="4399359" cy="392192"/>
          </a:xfrm>
          <a:prstGeom prst="rect">
            <a:avLst/>
          </a:prstGeom>
          <a:noFill/>
          <a:ln/>
        </p:spPr>
        <p:txBody>
          <a:bodyPr wrap="square" lIns="0" tIns="0" rIns="0" bIns="0" rtlCol="0" anchor="t"/>
          <a:lstStyle/>
          <a:p>
            <a:pPr marL="0" indent="0" algn="ctr">
              <a:lnSpc>
                <a:spcPts val="1500"/>
              </a:lnSpc>
              <a:buNone/>
            </a:pPr>
            <a:r>
              <a:rPr lang="en-US" sz="1150" dirty="0">
                <a:solidFill>
                  <a:srgbClr val="EBEDF0"/>
                </a:solidFill>
                <a:latin typeface="Geist" pitchFamily="34" charset="0"/>
                <a:ea typeface="Geist" pitchFamily="34" charset="-122"/>
                <a:cs typeface="Geist" pitchFamily="34" charset="-120"/>
              </a:rPr>
              <a:t>Just a 5% increase in customer retention can boost profits by 25% to 95%</a:t>
            </a:r>
            <a:endParaRPr lang="en-US" sz="1150" dirty="0"/>
          </a:p>
        </p:txBody>
      </p:sp>
      <p:sp>
        <p:nvSpPr>
          <p:cNvPr id="9" name="Text 7"/>
          <p:cNvSpPr/>
          <p:nvPr/>
        </p:nvSpPr>
        <p:spPr>
          <a:xfrm>
            <a:off x="9703356" y="1771412"/>
            <a:ext cx="4399359" cy="497562"/>
          </a:xfrm>
          <a:prstGeom prst="rect">
            <a:avLst/>
          </a:prstGeom>
          <a:noFill/>
          <a:ln/>
        </p:spPr>
        <p:txBody>
          <a:bodyPr wrap="none" lIns="0" tIns="0" rIns="0" bIns="0" rtlCol="0" anchor="t"/>
          <a:lstStyle/>
          <a:p>
            <a:pPr marL="0" indent="0" algn="ctr">
              <a:lnSpc>
                <a:spcPts val="3900"/>
              </a:lnSpc>
              <a:buNone/>
            </a:pPr>
            <a:r>
              <a:rPr lang="en-US" sz="3900" b="1" dirty="0">
                <a:solidFill>
                  <a:srgbClr val="EBEDF0"/>
                </a:solidFill>
                <a:latin typeface="Geist Bold" pitchFamily="34" charset="0"/>
                <a:ea typeface="Geist Bold" pitchFamily="34" charset="-122"/>
                <a:cs typeface="Geist Bold" pitchFamily="34" charset="-120"/>
              </a:rPr>
              <a:t>67%</a:t>
            </a:r>
            <a:endParaRPr lang="en-US" sz="3900" dirty="0"/>
          </a:p>
        </p:txBody>
      </p:sp>
      <p:sp>
        <p:nvSpPr>
          <p:cNvPr id="10" name="Text 8"/>
          <p:cNvSpPr/>
          <p:nvPr/>
        </p:nvSpPr>
        <p:spPr>
          <a:xfrm>
            <a:off x="10625971" y="2457331"/>
            <a:ext cx="2554129" cy="244912"/>
          </a:xfrm>
          <a:prstGeom prst="rect">
            <a:avLst/>
          </a:prstGeom>
          <a:noFill/>
          <a:ln/>
        </p:spPr>
        <p:txBody>
          <a:bodyPr wrap="none" lIns="0" tIns="0" rIns="0" bIns="0" rtlCol="0" anchor="t"/>
          <a:lstStyle/>
          <a:p>
            <a:pPr marL="0" indent="0" algn="ctr">
              <a:lnSpc>
                <a:spcPts val="1900"/>
              </a:lnSpc>
              <a:buNone/>
            </a:pPr>
            <a:r>
              <a:rPr lang="en-US" sz="1450" b="1" dirty="0">
                <a:solidFill>
                  <a:srgbClr val="EBEDF0"/>
                </a:solidFill>
                <a:latin typeface="Geist Bold" pitchFamily="34" charset="0"/>
                <a:ea typeface="Geist Bold" pitchFamily="34" charset="-122"/>
                <a:cs typeface="Geist Bold" pitchFamily="34" charset="-120"/>
              </a:rPr>
              <a:t>Repeat Purchase Likelihood</a:t>
            </a:r>
            <a:endParaRPr lang="en-US" sz="1450" dirty="0"/>
          </a:p>
        </p:txBody>
      </p:sp>
      <p:sp>
        <p:nvSpPr>
          <p:cNvPr id="11" name="Text 9"/>
          <p:cNvSpPr/>
          <p:nvPr/>
        </p:nvSpPr>
        <p:spPr>
          <a:xfrm>
            <a:off x="9703356" y="2792611"/>
            <a:ext cx="4399359" cy="392192"/>
          </a:xfrm>
          <a:prstGeom prst="rect">
            <a:avLst/>
          </a:prstGeom>
          <a:noFill/>
          <a:ln/>
        </p:spPr>
        <p:txBody>
          <a:bodyPr wrap="square" lIns="0" tIns="0" rIns="0" bIns="0" rtlCol="0" anchor="t"/>
          <a:lstStyle/>
          <a:p>
            <a:pPr marL="0" indent="0" algn="ctr">
              <a:lnSpc>
                <a:spcPts val="1500"/>
              </a:lnSpc>
              <a:buNone/>
            </a:pPr>
            <a:r>
              <a:rPr lang="en-US" sz="1150" dirty="0">
                <a:solidFill>
                  <a:srgbClr val="EBEDF0"/>
                </a:solidFill>
                <a:latin typeface="Geist" pitchFamily="34" charset="0"/>
                <a:ea typeface="Geist" pitchFamily="34" charset="-122"/>
                <a:cs typeface="Geist" pitchFamily="34" charset="-120"/>
              </a:rPr>
              <a:t>Existing customers are 67% more likely to make repeat purchases than new prospects</a:t>
            </a:r>
            <a:endParaRPr lang="en-US" sz="1150" dirty="0"/>
          </a:p>
        </p:txBody>
      </p:sp>
      <p:sp>
        <p:nvSpPr>
          <p:cNvPr id="12" name="Text 10"/>
          <p:cNvSpPr/>
          <p:nvPr/>
        </p:nvSpPr>
        <p:spPr>
          <a:xfrm>
            <a:off x="527685" y="3505081"/>
            <a:ext cx="2444710" cy="244912"/>
          </a:xfrm>
          <a:prstGeom prst="rect">
            <a:avLst/>
          </a:prstGeom>
          <a:noFill/>
          <a:ln/>
        </p:spPr>
        <p:txBody>
          <a:bodyPr wrap="none" lIns="0" tIns="0" rIns="0" bIns="0" rtlCol="0" anchor="t"/>
          <a:lstStyle/>
          <a:p>
            <a:pPr marL="0" indent="0" algn="l">
              <a:lnSpc>
                <a:spcPts val="1900"/>
              </a:lnSpc>
              <a:buNone/>
            </a:pPr>
            <a:r>
              <a:rPr lang="en-US" sz="1450" b="1" dirty="0">
                <a:solidFill>
                  <a:srgbClr val="F2F5FA"/>
                </a:solidFill>
                <a:latin typeface="Geist Bold" pitchFamily="34" charset="0"/>
                <a:ea typeface="Geist Bold" pitchFamily="34" charset="-122"/>
                <a:cs typeface="Geist Bold" pitchFamily="34" charset="-120"/>
              </a:rPr>
              <a:t>The Hidden Costs of Churn</a:t>
            </a:r>
            <a:endParaRPr lang="en-US" sz="1450" dirty="0"/>
          </a:p>
        </p:txBody>
      </p:sp>
      <p:sp>
        <p:nvSpPr>
          <p:cNvPr id="13" name="Text 11"/>
          <p:cNvSpPr/>
          <p:nvPr/>
        </p:nvSpPr>
        <p:spPr>
          <a:xfrm>
            <a:off x="527685" y="3900726"/>
            <a:ext cx="7997785" cy="196096"/>
          </a:xfrm>
          <a:prstGeom prst="rect">
            <a:avLst/>
          </a:prstGeom>
          <a:noFill/>
          <a:ln/>
        </p:spPr>
        <p:txBody>
          <a:bodyPr wrap="none" lIns="0" tIns="0" rIns="0" bIns="0" rtlCol="0" anchor="t"/>
          <a:lstStyle/>
          <a:p>
            <a:pPr marL="342900" indent="-342900" algn="l">
              <a:lnSpc>
                <a:spcPts val="1500"/>
              </a:lnSpc>
              <a:buSzPct val="100000"/>
              <a:buChar char="•"/>
            </a:pPr>
            <a:r>
              <a:rPr lang="en-US" sz="1150" dirty="0">
                <a:solidFill>
                  <a:srgbClr val="EBEDF0"/>
                </a:solidFill>
                <a:latin typeface="Geist" pitchFamily="34" charset="0"/>
                <a:ea typeface="Geist" pitchFamily="34" charset="-122"/>
                <a:cs typeface="Geist" pitchFamily="34" charset="-120"/>
              </a:rPr>
              <a:t>Lost lifetime customer value and recurring revenue streams</a:t>
            </a:r>
            <a:endParaRPr lang="en-US" sz="1150" dirty="0"/>
          </a:p>
        </p:txBody>
      </p:sp>
      <p:sp>
        <p:nvSpPr>
          <p:cNvPr id="14" name="Text 12"/>
          <p:cNvSpPr/>
          <p:nvPr/>
        </p:nvSpPr>
        <p:spPr>
          <a:xfrm>
            <a:off x="527685" y="4149566"/>
            <a:ext cx="7997785" cy="196096"/>
          </a:xfrm>
          <a:prstGeom prst="rect">
            <a:avLst/>
          </a:prstGeom>
          <a:noFill/>
          <a:ln/>
        </p:spPr>
        <p:txBody>
          <a:bodyPr wrap="none" lIns="0" tIns="0" rIns="0" bIns="0" rtlCol="0" anchor="t"/>
          <a:lstStyle/>
          <a:p>
            <a:pPr marL="342900" indent="-342900" algn="l">
              <a:lnSpc>
                <a:spcPts val="1500"/>
              </a:lnSpc>
              <a:buSzPct val="100000"/>
              <a:buChar char="•"/>
            </a:pPr>
            <a:r>
              <a:rPr lang="en-US" sz="1150" dirty="0">
                <a:solidFill>
                  <a:srgbClr val="EBEDF0"/>
                </a:solidFill>
                <a:latin typeface="Geist" pitchFamily="34" charset="0"/>
                <a:ea typeface="Geist" pitchFamily="34" charset="-122"/>
                <a:cs typeface="Geist" pitchFamily="34" charset="-120"/>
              </a:rPr>
              <a:t>Wasted marketing and acquisition investments</a:t>
            </a:r>
            <a:endParaRPr lang="en-US" sz="1150" dirty="0"/>
          </a:p>
        </p:txBody>
      </p:sp>
      <p:sp>
        <p:nvSpPr>
          <p:cNvPr id="15" name="Text 13"/>
          <p:cNvSpPr/>
          <p:nvPr/>
        </p:nvSpPr>
        <p:spPr>
          <a:xfrm>
            <a:off x="527685" y="4398407"/>
            <a:ext cx="7997785" cy="196096"/>
          </a:xfrm>
          <a:prstGeom prst="rect">
            <a:avLst/>
          </a:prstGeom>
          <a:noFill/>
          <a:ln/>
        </p:spPr>
        <p:txBody>
          <a:bodyPr wrap="none" lIns="0" tIns="0" rIns="0" bIns="0" rtlCol="0" anchor="t"/>
          <a:lstStyle/>
          <a:p>
            <a:pPr marL="342900" indent="-342900" algn="l">
              <a:lnSpc>
                <a:spcPts val="1500"/>
              </a:lnSpc>
              <a:buSzPct val="100000"/>
              <a:buChar char="•"/>
            </a:pPr>
            <a:r>
              <a:rPr lang="en-US" sz="1150" dirty="0">
                <a:solidFill>
                  <a:srgbClr val="EBEDF0"/>
                </a:solidFill>
                <a:latin typeface="Geist" pitchFamily="34" charset="0"/>
                <a:ea typeface="Geist" pitchFamily="34" charset="-122"/>
                <a:cs typeface="Geist" pitchFamily="34" charset="-120"/>
              </a:rPr>
              <a:t>Decreased referral opportunities and brand advocacy</a:t>
            </a:r>
            <a:endParaRPr lang="en-US" sz="1150" dirty="0"/>
          </a:p>
        </p:txBody>
      </p:sp>
      <p:sp>
        <p:nvSpPr>
          <p:cNvPr id="16" name="Text 14"/>
          <p:cNvSpPr/>
          <p:nvPr/>
        </p:nvSpPr>
        <p:spPr>
          <a:xfrm>
            <a:off x="527685" y="4647248"/>
            <a:ext cx="7997785" cy="196096"/>
          </a:xfrm>
          <a:prstGeom prst="rect">
            <a:avLst/>
          </a:prstGeom>
          <a:noFill/>
          <a:ln/>
        </p:spPr>
        <p:txBody>
          <a:bodyPr wrap="none" lIns="0" tIns="0" rIns="0" bIns="0" rtlCol="0" anchor="t"/>
          <a:lstStyle/>
          <a:p>
            <a:pPr marL="342900" indent="-342900" algn="l">
              <a:lnSpc>
                <a:spcPts val="1500"/>
              </a:lnSpc>
              <a:buSzPct val="100000"/>
              <a:buChar char="•"/>
            </a:pPr>
            <a:r>
              <a:rPr lang="en-US" sz="1150" dirty="0">
                <a:solidFill>
                  <a:srgbClr val="EBEDF0"/>
                </a:solidFill>
                <a:latin typeface="Geist" pitchFamily="34" charset="0"/>
                <a:ea typeface="Geist" pitchFamily="34" charset="-122"/>
                <a:cs typeface="Geist" pitchFamily="34" charset="-120"/>
              </a:rPr>
              <a:t>Negative word-of-mouth that impacts future acquisition</a:t>
            </a:r>
            <a:endParaRPr lang="en-US" sz="1150" dirty="0"/>
          </a:p>
        </p:txBody>
      </p:sp>
      <p:sp>
        <p:nvSpPr>
          <p:cNvPr id="17" name="Text 15"/>
          <p:cNvSpPr/>
          <p:nvPr/>
        </p:nvSpPr>
        <p:spPr>
          <a:xfrm>
            <a:off x="527685" y="4896088"/>
            <a:ext cx="7997785" cy="196096"/>
          </a:xfrm>
          <a:prstGeom prst="rect">
            <a:avLst/>
          </a:prstGeom>
          <a:noFill/>
          <a:ln/>
        </p:spPr>
        <p:txBody>
          <a:bodyPr wrap="none" lIns="0" tIns="0" rIns="0" bIns="0" rtlCol="0" anchor="t"/>
          <a:lstStyle/>
          <a:p>
            <a:pPr marL="342900" indent="-342900" algn="l">
              <a:lnSpc>
                <a:spcPts val="1500"/>
              </a:lnSpc>
              <a:buSzPct val="100000"/>
              <a:buChar char="•"/>
            </a:pPr>
            <a:r>
              <a:rPr lang="en-US" sz="1150" dirty="0">
                <a:solidFill>
                  <a:srgbClr val="EBEDF0"/>
                </a:solidFill>
                <a:latin typeface="Geist" pitchFamily="34" charset="0"/>
                <a:ea typeface="Geist" pitchFamily="34" charset="-122"/>
                <a:cs typeface="Geist" pitchFamily="34" charset="-120"/>
              </a:rPr>
              <a:t>Reduced competitive advantage in the marketplace</a:t>
            </a:r>
            <a:endParaRPr lang="en-US" sz="1150" dirty="0"/>
          </a:p>
        </p:txBody>
      </p:sp>
      <p:pic>
        <p:nvPicPr>
          <p:cNvPr id="18" name="Image 0" descr="preencoded.png"/>
          <p:cNvPicPr>
            <a:picLocks noChangeAspect="1"/>
          </p:cNvPicPr>
          <p:nvPr/>
        </p:nvPicPr>
        <p:blipFill>
          <a:blip r:embed="rId3"/>
          <a:stretch>
            <a:fillRect/>
          </a:stretch>
        </p:blipFill>
        <p:spPr>
          <a:xfrm>
            <a:off x="8435167" y="3316859"/>
            <a:ext cx="6192633" cy="49159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869680" y="0"/>
            <a:ext cx="5760720" cy="8242935"/>
          </a:xfrm>
          <a:prstGeom prst="rect">
            <a:avLst/>
          </a:prstGeom>
        </p:spPr>
      </p:pic>
      <p:sp>
        <p:nvSpPr>
          <p:cNvPr id="3" name="Text 0"/>
          <p:cNvSpPr/>
          <p:nvPr/>
        </p:nvSpPr>
        <p:spPr>
          <a:xfrm>
            <a:off x="476726" y="374571"/>
            <a:ext cx="8190548" cy="885349"/>
          </a:xfrm>
          <a:prstGeom prst="rect">
            <a:avLst/>
          </a:prstGeom>
          <a:noFill/>
          <a:ln/>
        </p:spPr>
        <p:txBody>
          <a:bodyPr wrap="square" lIns="0" tIns="0" rIns="0" bIns="0" rtlCol="0" anchor="t"/>
          <a:lstStyle/>
          <a:p>
            <a:pPr marL="0" indent="0" algn="l">
              <a:lnSpc>
                <a:spcPts val="3450"/>
              </a:lnSpc>
              <a:buNone/>
            </a:pPr>
            <a:r>
              <a:rPr lang="en-US" sz="2650" b="1" dirty="0">
                <a:solidFill>
                  <a:srgbClr val="F2F5FA"/>
                </a:solidFill>
                <a:latin typeface="Geist Bold" pitchFamily="34" charset="0"/>
                <a:ea typeface="Geist Bold" pitchFamily="34" charset="-122"/>
                <a:cs typeface="Geist Bold" pitchFamily="34" charset="-120"/>
              </a:rPr>
              <a:t>Key Churn Indicators: Identifying Warning Signs in Customer Behaviour Patterns</a:t>
            </a:r>
            <a:endParaRPr lang="en-US" sz="2650" dirty="0"/>
          </a:p>
        </p:txBody>
      </p:sp>
      <p:sp>
        <p:nvSpPr>
          <p:cNvPr id="4" name="Shape 1"/>
          <p:cNvSpPr/>
          <p:nvPr/>
        </p:nvSpPr>
        <p:spPr>
          <a:xfrm>
            <a:off x="476726" y="1464231"/>
            <a:ext cx="8190548" cy="1327785"/>
          </a:xfrm>
          <a:prstGeom prst="roundRect">
            <a:avLst>
              <a:gd name="adj" fmla="val 4309"/>
            </a:avLst>
          </a:prstGeom>
          <a:solidFill>
            <a:srgbClr val="101620"/>
          </a:solidFill>
          <a:ln w="15240">
            <a:solidFill>
              <a:srgbClr val="002A80"/>
            </a:solidFill>
            <a:prstDash val="solid"/>
          </a:ln>
        </p:spPr>
      </p:sp>
      <p:pic>
        <p:nvPicPr>
          <p:cNvPr id="5" name="Image 1" descr="preencoded.png"/>
          <p:cNvPicPr>
            <a:picLocks noChangeAspect="1"/>
          </p:cNvPicPr>
          <p:nvPr/>
        </p:nvPicPr>
        <p:blipFill>
          <a:blip r:embed="rId4"/>
          <a:stretch>
            <a:fillRect/>
          </a:stretch>
        </p:blipFill>
        <p:spPr>
          <a:xfrm>
            <a:off x="628174" y="1615678"/>
            <a:ext cx="408623" cy="408623"/>
          </a:xfrm>
          <a:prstGeom prst="rect">
            <a:avLst/>
          </a:prstGeom>
        </p:spPr>
      </p:pic>
      <p:pic>
        <p:nvPicPr>
          <p:cNvPr id="6" name="Image 2"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0569" y="1727954"/>
            <a:ext cx="183833" cy="183833"/>
          </a:xfrm>
          <a:prstGeom prst="rect">
            <a:avLst/>
          </a:prstGeom>
        </p:spPr>
      </p:pic>
      <p:sp>
        <p:nvSpPr>
          <p:cNvPr id="7" name="Text 2"/>
          <p:cNvSpPr/>
          <p:nvPr/>
        </p:nvSpPr>
        <p:spPr>
          <a:xfrm>
            <a:off x="628174" y="2160508"/>
            <a:ext cx="1702594" cy="221337"/>
          </a:xfrm>
          <a:prstGeom prst="rect">
            <a:avLst/>
          </a:prstGeom>
          <a:noFill/>
          <a:ln/>
        </p:spPr>
        <p:txBody>
          <a:bodyPr wrap="none" lIns="0" tIns="0" rIns="0" bIns="0" rtlCol="0" anchor="t"/>
          <a:lstStyle/>
          <a:p>
            <a:pPr marL="0" indent="0" algn="l">
              <a:lnSpc>
                <a:spcPts val="1700"/>
              </a:lnSpc>
              <a:buNone/>
            </a:pPr>
            <a:r>
              <a:rPr lang="en-US" sz="1300" b="1" dirty="0">
                <a:solidFill>
                  <a:srgbClr val="EBEDF0"/>
                </a:solidFill>
                <a:latin typeface="Geist Bold" pitchFamily="34" charset="0"/>
                <a:ea typeface="Geist Bold" pitchFamily="34" charset="-122"/>
                <a:cs typeface="Geist Bold" pitchFamily="34" charset="-120"/>
              </a:rPr>
              <a:t>Usage Decline</a:t>
            </a:r>
            <a:endParaRPr lang="en-US" sz="1300" dirty="0"/>
          </a:p>
        </p:txBody>
      </p:sp>
      <p:sp>
        <p:nvSpPr>
          <p:cNvPr id="8" name="Text 3"/>
          <p:cNvSpPr/>
          <p:nvPr/>
        </p:nvSpPr>
        <p:spPr>
          <a:xfrm>
            <a:off x="628174" y="2463522"/>
            <a:ext cx="7887652" cy="177046"/>
          </a:xfrm>
          <a:prstGeom prst="rect">
            <a:avLst/>
          </a:prstGeom>
          <a:noFill/>
          <a:ln/>
        </p:spPr>
        <p:txBody>
          <a:bodyPr wrap="none" lIns="0" tIns="0" rIns="0" bIns="0" rtlCol="0" anchor="t"/>
          <a:lstStyle/>
          <a:p>
            <a:pPr marL="0" indent="0" algn="l">
              <a:lnSpc>
                <a:spcPts val="1350"/>
              </a:lnSpc>
              <a:buNone/>
            </a:pPr>
            <a:r>
              <a:rPr lang="en-US" sz="1050" dirty="0">
                <a:solidFill>
                  <a:srgbClr val="EBEDF0"/>
                </a:solidFill>
                <a:latin typeface="Geist" pitchFamily="34" charset="0"/>
                <a:ea typeface="Geist" pitchFamily="34" charset="-122"/>
                <a:cs typeface="Geist" pitchFamily="34" charset="-120"/>
              </a:rPr>
              <a:t>Significant decrease in product usage frequency, login rates, or feature adoption over time</a:t>
            </a:r>
            <a:endParaRPr lang="en-US" sz="1050" dirty="0"/>
          </a:p>
        </p:txBody>
      </p:sp>
      <p:sp>
        <p:nvSpPr>
          <p:cNvPr id="9" name="Shape 4"/>
          <p:cNvSpPr/>
          <p:nvPr/>
        </p:nvSpPr>
        <p:spPr>
          <a:xfrm>
            <a:off x="476726" y="2928223"/>
            <a:ext cx="8190548" cy="1327785"/>
          </a:xfrm>
          <a:prstGeom prst="roundRect">
            <a:avLst>
              <a:gd name="adj" fmla="val 4309"/>
            </a:avLst>
          </a:prstGeom>
          <a:solidFill>
            <a:srgbClr val="101620"/>
          </a:solidFill>
          <a:ln w="15240">
            <a:solidFill>
              <a:srgbClr val="002A80"/>
            </a:solidFill>
            <a:prstDash val="solid"/>
          </a:ln>
        </p:spPr>
      </p:sp>
      <p:pic>
        <p:nvPicPr>
          <p:cNvPr id="10" name="Image 3" descr="preencoded.png"/>
          <p:cNvPicPr>
            <a:picLocks noChangeAspect="1"/>
          </p:cNvPicPr>
          <p:nvPr/>
        </p:nvPicPr>
        <p:blipFill>
          <a:blip r:embed="rId7"/>
          <a:stretch>
            <a:fillRect/>
          </a:stretch>
        </p:blipFill>
        <p:spPr>
          <a:xfrm>
            <a:off x="628174" y="3079671"/>
            <a:ext cx="408623" cy="408623"/>
          </a:xfrm>
          <a:prstGeom prst="rect">
            <a:avLst/>
          </a:prstGeom>
        </p:spPr>
      </p:pic>
      <p:pic>
        <p:nvPicPr>
          <p:cNvPr id="11" name="Image 4"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40569" y="3191947"/>
            <a:ext cx="183833" cy="183833"/>
          </a:xfrm>
          <a:prstGeom prst="rect">
            <a:avLst/>
          </a:prstGeom>
        </p:spPr>
      </p:pic>
      <p:sp>
        <p:nvSpPr>
          <p:cNvPr id="12" name="Text 5"/>
          <p:cNvSpPr/>
          <p:nvPr/>
        </p:nvSpPr>
        <p:spPr>
          <a:xfrm>
            <a:off x="628174" y="3624501"/>
            <a:ext cx="1702594" cy="221337"/>
          </a:xfrm>
          <a:prstGeom prst="rect">
            <a:avLst/>
          </a:prstGeom>
          <a:noFill/>
          <a:ln/>
        </p:spPr>
        <p:txBody>
          <a:bodyPr wrap="none" lIns="0" tIns="0" rIns="0" bIns="0" rtlCol="0" anchor="t"/>
          <a:lstStyle/>
          <a:p>
            <a:pPr marL="0" indent="0" algn="l">
              <a:lnSpc>
                <a:spcPts val="1700"/>
              </a:lnSpc>
              <a:buNone/>
            </a:pPr>
            <a:r>
              <a:rPr lang="en-US" sz="1300" b="1" dirty="0">
                <a:solidFill>
                  <a:srgbClr val="EBEDF0"/>
                </a:solidFill>
                <a:latin typeface="Geist Bold" pitchFamily="34" charset="0"/>
                <a:ea typeface="Geist Bold" pitchFamily="34" charset="-122"/>
                <a:cs typeface="Geist Bold" pitchFamily="34" charset="-120"/>
              </a:rPr>
              <a:t>Support Tickets</a:t>
            </a:r>
            <a:endParaRPr lang="en-US" sz="1300" dirty="0"/>
          </a:p>
        </p:txBody>
      </p:sp>
      <p:sp>
        <p:nvSpPr>
          <p:cNvPr id="13" name="Text 6"/>
          <p:cNvSpPr/>
          <p:nvPr/>
        </p:nvSpPr>
        <p:spPr>
          <a:xfrm>
            <a:off x="628174" y="3927515"/>
            <a:ext cx="7887652" cy="177046"/>
          </a:xfrm>
          <a:prstGeom prst="rect">
            <a:avLst/>
          </a:prstGeom>
          <a:noFill/>
          <a:ln/>
        </p:spPr>
        <p:txBody>
          <a:bodyPr wrap="none" lIns="0" tIns="0" rIns="0" bIns="0" rtlCol="0" anchor="t"/>
          <a:lstStyle/>
          <a:p>
            <a:pPr marL="0" indent="0" algn="l">
              <a:lnSpc>
                <a:spcPts val="1350"/>
              </a:lnSpc>
              <a:buNone/>
            </a:pPr>
            <a:r>
              <a:rPr lang="en-US" sz="1050" dirty="0">
                <a:solidFill>
                  <a:srgbClr val="EBEDF0"/>
                </a:solidFill>
                <a:latin typeface="Geist" pitchFamily="34" charset="0"/>
                <a:ea typeface="Geist" pitchFamily="34" charset="-122"/>
                <a:cs typeface="Geist" pitchFamily="34" charset="-120"/>
              </a:rPr>
              <a:t>Spike in complaints, unresolved issues, or negative sentiment in customer interactions</a:t>
            </a:r>
            <a:endParaRPr lang="en-US" sz="1050" dirty="0"/>
          </a:p>
        </p:txBody>
      </p:sp>
      <p:sp>
        <p:nvSpPr>
          <p:cNvPr id="14" name="Shape 7"/>
          <p:cNvSpPr/>
          <p:nvPr/>
        </p:nvSpPr>
        <p:spPr>
          <a:xfrm>
            <a:off x="476726" y="4392216"/>
            <a:ext cx="8190548" cy="1327785"/>
          </a:xfrm>
          <a:prstGeom prst="roundRect">
            <a:avLst>
              <a:gd name="adj" fmla="val 4309"/>
            </a:avLst>
          </a:prstGeom>
          <a:solidFill>
            <a:srgbClr val="101620"/>
          </a:solidFill>
          <a:ln w="15240">
            <a:solidFill>
              <a:srgbClr val="002A80"/>
            </a:solidFill>
            <a:prstDash val="solid"/>
          </a:ln>
        </p:spPr>
      </p:sp>
      <p:pic>
        <p:nvPicPr>
          <p:cNvPr id="15" name="Image 5" descr="preencoded.png"/>
          <p:cNvPicPr>
            <a:picLocks noChangeAspect="1"/>
          </p:cNvPicPr>
          <p:nvPr/>
        </p:nvPicPr>
        <p:blipFill>
          <a:blip r:embed="rId10"/>
          <a:stretch>
            <a:fillRect/>
          </a:stretch>
        </p:blipFill>
        <p:spPr>
          <a:xfrm>
            <a:off x="628174" y="4543663"/>
            <a:ext cx="408623" cy="408623"/>
          </a:xfrm>
          <a:prstGeom prst="rect">
            <a:avLst/>
          </a:prstGeom>
        </p:spPr>
      </p:pic>
      <p:pic>
        <p:nvPicPr>
          <p:cNvPr id="16" name="Image 6"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40569" y="4655939"/>
            <a:ext cx="183833" cy="183833"/>
          </a:xfrm>
          <a:prstGeom prst="rect">
            <a:avLst/>
          </a:prstGeom>
        </p:spPr>
      </p:pic>
      <p:sp>
        <p:nvSpPr>
          <p:cNvPr id="17" name="Text 8"/>
          <p:cNvSpPr/>
          <p:nvPr/>
        </p:nvSpPr>
        <p:spPr>
          <a:xfrm>
            <a:off x="628174" y="5088493"/>
            <a:ext cx="1702594" cy="221337"/>
          </a:xfrm>
          <a:prstGeom prst="rect">
            <a:avLst/>
          </a:prstGeom>
          <a:noFill/>
          <a:ln/>
        </p:spPr>
        <p:txBody>
          <a:bodyPr wrap="none" lIns="0" tIns="0" rIns="0" bIns="0" rtlCol="0" anchor="t"/>
          <a:lstStyle/>
          <a:p>
            <a:pPr marL="0" indent="0" algn="l">
              <a:lnSpc>
                <a:spcPts val="1700"/>
              </a:lnSpc>
              <a:buNone/>
            </a:pPr>
            <a:r>
              <a:rPr lang="en-US" sz="1300" b="1" dirty="0">
                <a:solidFill>
                  <a:srgbClr val="EBEDF0"/>
                </a:solidFill>
                <a:latin typeface="Geist Bold" pitchFamily="34" charset="0"/>
                <a:ea typeface="Geist Bold" pitchFamily="34" charset="-122"/>
                <a:cs typeface="Geist Bold" pitchFamily="34" charset="-120"/>
              </a:rPr>
              <a:t>Payment Issues</a:t>
            </a:r>
            <a:endParaRPr lang="en-US" sz="1300" dirty="0"/>
          </a:p>
        </p:txBody>
      </p:sp>
      <p:sp>
        <p:nvSpPr>
          <p:cNvPr id="18" name="Text 9"/>
          <p:cNvSpPr/>
          <p:nvPr/>
        </p:nvSpPr>
        <p:spPr>
          <a:xfrm>
            <a:off x="628174" y="5391507"/>
            <a:ext cx="7887652" cy="177046"/>
          </a:xfrm>
          <a:prstGeom prst="rect">
            <a:avLst/>
          </a:prstGeom>
          <a:noFill/>
          <a:ln/>
        </p:spPr>
        <p:txBody>
          <a:bodyPr wrap="none" lIns="0" tIns="0" rIns="0" bIns="0" rtlCol="0" anchor="t"/>
          <a:lstStyle/>
          <a:p>
            <a:pPr marL="0" indent="0" algn="l">
              <a:lnSpc>
                <a:spcPts val="1350"/>
              </a:lnSpc>
              <a:buNone/>
            </a:pPr>
            <a:r>
              <a:rPr lang="en-US" sz="1050" dirty="0">
                <a:solidFill>
                  <a:srgbClr val="EBEDF0"/>
                </a:solidFill>
                <a:latin typeface="Geist" pitchFamily="34" charset="0"/>
                <a:ea typeface="Geist" pitchFamily="34" charset="-122"/>
                <a:cs typeface="Geist" pitchFamily="34" charset="-120"/>
              </a:rPr>
              <a:t>Failed transactions, downgraded plans, or delayed payment patterns indicating disengagement</a:t>
            </a:r>
            <a:endParaRPr lang="en-US" sz="1050" dirty="0"/>
          </a:p>
        </p:txBody>
      </p:sp>
      <p:sp>
        <p:nvSpPr>
          <p:cNvPr id="19" name="Shape 10"/>
          <p:cNvSpPr/>
          <p:nvPr/>
        </p:nvSpPr>
        <p:spPr>
          <a:xfrm>
            <a:off x="476726" y="5856208"/>
            <a:ext cx="8190548" cy="1327785"/>
          </a:xfrm>
          <a:prstGeom prst="roundRect">
            <a:avLst>
              <a:gd name="adj" fmla="val 4309"/>
            </a:avLst>
          </a:prstGeom>
          <a:solidFill>
            <a:srgbClr val="101620"/>
          </a:solidFill>
          <a:ln w="15240">
            <a:solidFill>
              <a:srgbClr val="002A80"/>
            </a:solidFill>
            <a:prstDash val="solid"/>
          </a:ln>
        </p:spPr>
      </p:sp>
      <p:pic>
        <p:nvPicPr>
          <p:cNvPr id="20" name="Image 7" descr="preencoded.png"/>
          <p:cNvPicPr>
            <a:picLocks noChangeAspect="1"/>
          </p:cNvPicPr>
          <p:nvPr/>
        </p:nvPicPr>
        <p:blipFill>
          <a:blip r:embed="rId13"/>
          <a:stretch>
            <a:fillRect/>
          </a:stretch>
        </p:blipFill>
        <p:spPr>
          <a:xfrm>
            <a:off x="628174" y="6007656"/>
            <a:ext cx="408623" cy="408623"/>
          </a:xfrm>
          <a:prstGeom prst="rect">
            <a:avLst/>
          </a:prstGeom>
        </p:spPr>
      </p:pic>
      <p:pic>
        <p:nvPicPr>
          <p:cNvPr id="21" name="Image 8"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740569" y="6119932"/>
            <a:ext cx="183833" cy="183833"/>
          </a:xfrm>
          <a:prstGeom prst="rect">
            <a:avLst/>
          </a:prstGeom>
        </p:spPr>
      </p:pic>
      <p:sp>
        <p:nvSpPr>
          <p:cNvPr id="22" name="Text 11"/>
          <p:cNvSpPr/>
          <p:nvPr/>
        </p:nvSpPr>
        <p:spPr>
          <a:xfrm>
            <a:off x="628174" y="6552486"/>
            <a:ext cx="1773793" cy="221337"/>
          </a:xfrm>
          <a:prstGeom prst="rect">
            <a:avLst/>
          </a:prstGeom>
          <a:noFill/>
          <a:ln/>
        </p:spPr>
        <p:txBody>
          <a:bodyPr wrap="none" lIns="0" tIns="0" rIns="0" bIns="0" rtlCol="0" anchor="t"/>
          <a:lstStyle/>
          <a:p>
            <a:pPr marL="0" indent="0" algn="l">
              <a:lnSpc>
                <a:spcPts val="1700"/>
              </a:lnSpc>
              <a:buNone/>
            </a:pPr>
            <a:r>
              <a:rPr lang="en-US" sz="1300" b="1" dirty="0">
                <a:solidFill>
                  <a:srgbClr val="EBEDF0"/>
                </a:solidFill>
                <a:latin typeface="Geist Bold" pitchFamily="34" charset="0"/>
                <a:ea typeface="Geist Bold" pitchFamily="34" charset="-122"/>
                <a:cs typeface="Geist Bold" pitchFamily="34" charset="-120"/>
              </a:rPr>
              <a:t>Communication Gaps</a:t>
            </a:r>
            <a:endParaRPr lang="en-US" sz="1300" dirty="0"/>
          </a:p>
        </p:txBody>
      </p:sp>
      <p:sp>
        <p:nvSpPr>
          <p:cNvPr id="23" name="Text 12"/>
          <p:cNvSpPr/>
          <p:nvPr/>
        </p:nvSpPr>
        <p:spPr>
          <a:xfrm>
            <a:off x="628174" y="6855500"/>
            <a:ext cx="7887652" cy="177046"/>
          </a:xfrm>
          <a:prstGeom prst="rect">
            <a:avLst/>
          </a:prstGeom>
          <a:noFill/>
          <a:ln/>
        </p:spPr>
        <p:txBody>
          <a:bodyPr wrap="none" lIns="0" tIns="0" rIns="0" bIns="0" rtlCol="0" anchor="t"/>
          <a:lstStyle/>
          <a:p>
            <a:pPr marL="0" indent="0" algn="l">
              <a:lnSpc>
                <a:spcPts val="1350"/>
              </a:lnSpc>
              <a:buNone/>
            </a:pPr>
            <a:r>
              <a:rPr lang="en-US" sz="1050" dirty="0">
                <a:solidFill>
                  <a:srgbClr val="EBEDF0"/>
                </a:solidFill>
                <a:latin typeface="Geist" pitchFamily="34" charset="0"/>
                <a:ea typeface="Geist" pitchFamily="34" charset="-122"/>
                <a:cs typeface="Geist" pitchFamily="34" charset="-120"/>
              </a:rPr>
              <a:t>Reduced email open rates, ignored notifications, or opt-outs from marketing communications</a:t>
            </a:r>
            <a:endParaRPr lang="en-US" sz="1050" dirty="0"/>
          </a:p>
        </p:txBody>
      </p:sp>
      <p:sp>
        <p:nvSpPr>
          <p:cNvPr id="24" name="Text 13"/>
          <p:cNvSpPr/>
          <p:nvPr/>
        </p:nvSpPr>
        <p:spPr>
          <a:xfrm>
            <a:off x="476726" y="7337227"/>
            <a:ext cx="8190548" cy="531138"/>
          </a:xfrm>
          <a:prstGeom prst="rect">
            <a:avLst/>
          </a:prstGeom>
          <a:noFill/>
          <a:ln/>
        </p:spPr>
        <p:txBody>
          <a:bodyPr wrap="square" lIns="0" tIns="0" rIns="0" bIns="0" rtlCol="0" anchor="t"/>
          <a:lstStyle/>
          <a:p>
            <a:pPr marL="0" indent="0" algn="l">
              <a:lnSpc>
                <a:spcPts val="1350"/>
              </a:lnSpc>
              <a:buNone/>
            </a:pPr>
            <a:r>
              <a:rPr lang="en-US" sz="1050" dirty="0">
                <a:solidFill>
                  <a:srgbClr val="EBEDF0"/>
                </a:solidFill>
                <a:latin typeface="Geist" pitchFamily="34" charset="0"/>
                <a:ea typeface="Geist" pitchFamily="34" charset="-122"/>
                <a:cs typeface="Geist" pitchFamily="34" charset="-120"/>
              </a:rPr>
              <a:t>Successful churn prediction requires monitoring multiple behavioural signals simultaneously. By combining these indicators with demographic and transactional data, organisations can create comprehensive risk profiles that enable proactive intervention before customers decide to leave.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96835" y="311825"/>
            <a:ext cx="10162461" cy="368498"/>
          </a:xfrm>
          <a:prstGeom prst="rect">
            <a:avLst/>
          </a:prstGeom>
          <a:noFill/>
          <a:ln/>
        </p:spPr>
        <p:txBody>
          <a:bodyPr wrap="none" lIns="0" tIns="0" rIns="0" bIns="0" rtlCol="0" anchor="t"/>
          <a:lstStyle/>
          <a:p>
            <a:pPr marL="0" indent="0" algn="l">
              <a:lnSpc>
                <a:spcPts val="2900"/>
              </a:lnSpc>
              <a:buNone/>
            </a:pPr>
            <a:r>
              <a:rPr lang="en-US" sz="2200" b="1" dirty="0">
                <a:solidFill>
                  <a:srgbClr val="F2F5FA"/>
                </a:solidFill>
                <a:latin typeface="Geist Bold" pitchFamily="34" charset="0"/>
                <a:ea typeface="Geist Bold" pitchFamily="34" charset="-122"/>
                <a:cs typeface="Geist Bold" pitchFamily="34" charset="-120"/>
              </a:rPr>
              <a:t>Data Collection Strategy: Building Your Customer Intelligence Framework</a:t>
            </a:r>
            <a:endParaRPr lang="en-US" sz="2200" dirty="0"/>
          </a:p>
        </p:txBody>
      </p:sp>
      <p:sp>
        <p:nvSpPr>
          <p:cNvPr id="3" name="Text 1"/>
          <p:cNvSpPr/>
          <p:nvPr/>
        </p:nvSpPr>
        <p:spPr>
          <a:xfrm>
            <a:off x="396835" y="907137"/>
            <a:ext cx="113348"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Light" pitchFamily="34" charset="0"/>
                <a:ea typeface="Geist Light" pitchFamily="34" charset="-122"/>
                <a:cs typeface="Geist Light" pitchFamily="34" charset="-120"/>
              </a:rPr>
              <a:t>01</a:t>
            </a:r>
            <a:endParaRPr lang="en-US" sz="850" dirty="0"/>
          </a:p>
        </p:txBody>
      </p:sp>
      <p:pic>
        <p:nvPicPr>
          <p:cNvPr id="4" name="Image 0" descr="preencoded.png"/>
          <p:cNvPicPr>
            <a:picLocks noChangeAspect="1"/>
          </p:cNvPicPr>
          <p:nvPr/>
        </p:nvPicPr>
        <p:blipFill>
          <a:blip r:embed="rId3"/>
          <a:stretch>
            <a:fillRect/>
          </a:stretch>
        </p:blipFill>
        <p:spPr>
          <a:xfrm>
            <a:off x="396835" y="1090255"/>
            <a:ext cx="6861691" cy="15240"/>
          </a:xfrm>
          <a:prstGeom prst="rect">
            <a:avLst/>
          </a:prstGeom>
        </p:spPr>
      </p:pic>
      <p:sp>
        <p:nvSpPr>
          <p:cNvPr id="5" name="Text 2"/>
          <p:cNvSpPr/>
          <p:nvPr/>
        </p:nvSpPr>
        <p:spPr>
          <a:xfrm>
            <a:off x="396835" y="1177409"/>
            <a:ext cx="1505903"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Identify Data Sources</a:t>
            </a:r>
            <a:endParaRPr lang="en-US" sz="1100" dirty="0"/>
          </a:p>
        </p:txBody>
      </p:sp>
      <p:sp>
        <p:nvSpPr>
          <p:cNvPr id="6" name="Text 3"/>
          <p:cNvSpPr/>
          <p:nvPr/>
        </p:nvSpPr>
        <p:spPr>
          <a:xfrm>
            <a:off x="396835" y="1429703"/>
            <a:ext cx="6861691" cy="294799"/>
          </a:xfrm>
          <a:prstGeom prst="rect">
            <a:avLst/>
          </a:prstGeom>
          <a:noFill/>
          <a:ln/>
        </p:spPr>
        <p:txBody>
          <a:bodyPr wrap="squar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Map all customer touchpoints including CRM systems, transaction databases, website analytics, mobile apps, customer support platforms, and social media interactions</a:t>
            </a:r>
            <a:endParaRPr lang="en-US" sz="850" dirty="0"/>
          </a:p>
        </p:txBody>
      </p:sp>
      <p:sp>
        <p:nvSpPr>
          <p:cNvPr id="7" name="Text 4"/>
          <p:cNvSpPr/>
          <p:nvPr/>
        </p:nvSpPr>
        <p:spPr>
          <a:xfrm>
            <a:off x="7371874" y="907137"/>
            <a:ext cx="113348"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Light" pitchFamily="34" charset="0"/>
                <a:ea typeface="Geist Light" pitchFamily="34" charset="-122"/>
                <a:cs typeface="Geist Light" pitchFamily="34" charset="-120"/>
              </a:rPr>
              <a:t>02</a:t>
            </a:r>
            <a:endParaRPr lang="en-US" sz="850" dirty="0"/>
          </a:p>
        </p:txBody>
      </p:sp>
      <p:pic>
        <p:nvPicPr>
          <p:cNvPr id="8" name="Image 1" descr="preencoded.png"/>
          <p:cNvPicPr>
            <a:picLocks noChangeAspect="1"/>
          </p:cNvPicPr>
          <p:nvPr/>
        </p:nvPicPr>
        <p:blipFill>
          <a:blip r:embed="rId3"/>
          <a:stretch>
            <a:fillRect/>
          </a:stretch>
        </p:blipFill>
        <p:spPr>
          <a:xfrm>
            <a:off x="7371874" y="1090255"/>
            <a:ext cx="6861691" cy="15240"/>
          </a:xfrm>
          <a:prstGeom prst="rect">
            <a:avLst/>
          </a:prstGeom>
        </p:spPr>
      </p:pic>
      <p:sp>
        <p:nvSpPr>
          <p:cNvPr id="9" name="Text 5"/>
          <p:cNvSpPr/>
          <p:nvPr/>
        </p:nvSpPr>
        <p:spPr>
          <a:xfrm>
            <a:off x="7371874" y="1177409"/>
            <a:ext cx="1417558"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Define Key Metrics</a:t>
            </a:r>
            <a:endParaRPr lang="en-US" sz="1100" dirty="0"/>
          </a:p>
        </p:txBody>
      </p:sp>
      <p:sp>
        <p:nvSpPr>
          <p:cNvPr id="10" name="Text 6"/>
          <p:cNvSpPr/>
          <p:nvPr/>
        </p:nvSpPr>
        <p:spPr>
          <a:xfrm>
            <a:off x="7371874" y="1429703"/>
            <a:ext cx="6861691" cy="294799"/>
          </a:xfrm>
          <a:prstGeom prst="rect">
            <a:avLst/>
          </a:prstGeom>
          <a:noFill/>
          <a:ln/>
        </p:spPr>
        <p:txBody>
          <a:bodyPr wrap="squar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Establish critical variables such as customer lifetime value, engagement scores, purchase frequency, contract duration, and satisfaction ratings</a:t>
            </a:r>
            <a:endParaRPr lang="en-US" sz="850" dirty="0"/>
          </a:p>
        </p:txBody>
      </p:sp>
      <p:sp>
        <p:nvSpPr>
          <p:cNvPr id="11" name="Text 7"/>
          <p:cNvSpPr/>
          <p:nvPr/>
        </p:nvSpPr>
        <p:spPr>
          <a:xfrm>
            <a:off x="396835" y="1922859"/>
            <a:ext cx="113348"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Light" pitchFamily="34" charset="0"/>
                <a:ea typeface="Geist Light" pitchFamily="34" charset="-122"/>
                <a:cs typeface="Geist Light" pitchFamily="34" charset="-120"/>
              </a:rPr>
              <a:t>03</a:t>
            </a:r>
            <a:endParaRPr lang="en-US" sz="850" dirty="0"/>
          </a:p>
        </p:txBody>
      </p:sp>
      <p:pic>
        <p:nvPicPr>
          <p:cNvPr id="12" name="Image 2" descr="preencoded.png"/>
          <p:cNvPicPr>
            <a:picLocks noChangeAspect="1"/>
          </p:cNvPicPr>
          <p:nvPr/>
        </p:nvPicPr>
        <p:blipFill>
          <a:blip r:embed="rId3"/>
          <a:stretch>
            <a:fillRect/>
          </a:stretch>
        </p:blipFill>
        <p:spPr>
          <a:xfrm>
            <a:off x="396835" y="2083356"/>
            <a:ext cx="6861691" cy="15240"/>
          </a:xfrm>
          <a:prstGeom prst="rect">
            <a:avLst/>
          </a:prstGeom>
        </p:spPr>
      </p:pic>
      <p:sp>
        <p:nvSpPr>
          <p:cNvPr id="13" name="Text 8"/>
          <p:cNvSpPr/>
          <p:nvPr/>
        </p:nvSpPr>
        <p:spPr>
          <a:xfrm>
            <a:off x="396835" y="2193131"/>
            <a:ext cx="1417558"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Ensure Data Quality</a:t>
            </a:r>
            <a:endParaRPr lang="en-US" sz="1100" dirty="0"/>
          </a:p>
        </p:txBody>
      </p:sp>
      <p:sp>
        <p:nvSpPr>
          <p:cNvPr id="14" name="Text 9"/>
          <p:cNvSpPr/>
          <p:nvPr/>
        </p:nvSpPr>
        <p:spPr>
          <a:xfrm>
            <a:off x="396835" y="2445425"/>
            <a:ext cx="6861691"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Implement validation rules, handle missing values, remove duplicates, and standardise formats across all data sources</a:t>
            </a:r>
            <a:endParaRPr lang="en-US" sz="850" dirty="0"/>
          </a:p>
        </p:txBody>
      </p:sp>
      <p:sp>
        <p:nvSpPr>
          <p:cNvPr id="15" name="Text 10"/>
          <p:cNvSpPr/>
          <p:nvPr/>
        </p:nvSpPr>
        <p:spPr>
          <a:xfrm>
            <a:off x="7371874" y="1922859"/>
            <a:ext cx="113348"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Light" pitchFamily="34" charset="0"/>
                <a:ea typeface="Geist Light" pitchFamily="34" charset="-122"/>
                <a:cs typeface="Geist Light" pitchFamily="34" charset="-120"/>
              </a:rPr>
              <a:t>04</a:t>
            </a:r>
            <a:endParaRPr lang="en-US" sz="850" dirty="0"/>
          </a:p>
        </p:txBody>
      </p:sp>
      <p:pic>
        <p:nvPicPr>
          <p:cNvPr id="16" name="Image 3" descr="preencoded.png"/>
          <p:cNvPicPr>
            <a:picLocks noChangeAspect="1"/>
          </p:cNvPicPr>
          <p:nvPr/>
        </p:nvPicPr>
        <p:blipFill>
          <a:blip r:embed="rId3"/>
          <a:stretch>
            <a:fillRect/>
          </a:stretch>
        </p:blipFill>
        <p:spPr>
          <a:xfrm>
            <a:off x="7371874" y="2083356"/>
            <a:ext cx="6861691" cy="15240"/>
          </a:xfrm>
          <a:prstGeom prst="rect">
            <a:avLst/>
          </a:prstGeom>
        </p:spPr>
      </p:pic>
      <p:sp>
        <p:nvSpPr>
          <p:cNvPr id="17" name="Text 11"/>
          <p:cNvSpPr/>
          <p:nvPr/>
        </p:nvSpPr>
        <p:spPr>
          <a:xfrm>
            <a:off x="7371874" y="2193131"/>
            <a:ext cx="1423511"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Create Data Pipeline</a:t>
            </a:r>
            <a:endParaRPr lang="en-US" sz="1100" dirty="0"/>
          </a:p>
        </p:txBody>
      </p:sp>
      <p:sp>
        <p:nvSpPr>
          <p:cNvPr id="18" name="Text 12"/>
          <p:cNvSpPr/>
          <p:nvPr/>
        </p:nvSpPr>
        <p:spPr>
          <a:xfrm>
            <a:off x="7371874" y="2445425"/>
            <a:ext cx="6861691"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Build automated systems for continuous data collection, cleaning, transformation, and storage in a centralised analytics platform</a:t>
            </a:r>
            <a:endParaRPr lang="en-US" sz="850" dirty="0"/>
          </a:p>
        </p:txBody>
      </p:sp>
      <p:sp>
        <p:nvSpPr>
          <p:cNvPr id="19" name="Text 13"/>
          <p:cNvSpPr/>
          <p:nvPr/>
        </p:nvSpPr>
        <p:spPr>
          <a:xfrm>
            <a:off x="396835" y="2918698"/>
            <a:ext cx="1795105" cy="184309"/>
          </a:xfrm>
          <a:prstGeom prst="rect">
            <a:avLst/>
          </a:prstGeom>
          <a:noFill/>
          <a:ln/>
        </p:spPr>
        <p:txBody>
          <a:bodyPr wrap="none" lIns="0" tIns="0" rIns="0" bIns="0" rtlCol="0" anchor="t"/>
          <a:lstStyle/>
          <a:p>
            <a:pPr marL="0" indent="0" algn="l">
              <a:lnSpc>
                <a:spcPts val="1450"/>
              </a:lnSpc>
              <a:buNone/>
            </a:pPr>
            <a:r>
              <a:rPr lang="en-US" sz="1100" b="1" dirty="0">
                <a:solidFill>
                  <a:srgbClr val="F2F5FA"/>
                </a:solidFill>
                <a:latin typeface="Geist Bold" pitchFamily="34" charset="0"/>
                <a:ea typeface="Geist Bold" pitchFamily="34" charset="-122"/>
                <a:cs typeface="Geist Bold" pitchFamily="34" charset="-120"/>
              </a:rPr>
              <a:t>Essential Data Categories</a:t>
            </a:r>
            <a:endParaRPr lang="en-US" sz="1100" dirty="0"/>
          </a:p>
        </p:txBody>
      </p:sp>
      <p:sp>
        <p:nvSpPr>
          <p:cNvPr id="20" name="Text 14"/>
          <p:cNvSpPr/>
          <p:nvPr/>
        </p:nvSpPr>
        <p:spPr>
          <a:xfrm>
            <a:off x="396835" y="3216354"/>
            <a:ext cx="6074331" cy="147399"/>
          </a:xfrm>
          <a:prstGeom prst="rect">
            <a:avLst/>
          </a:prstGeom>
          <a:noFill/>
          <a:ln/>
        </p:spPr>
        <p:txBody>
          <a:bodyPr wrap="none" lIns="0" tIns="0" rIns="0" bIns="0" rtlCol="0" anchor="t"/>
          <a:lstStyle/>
          <a:p>
            <a:pPr marL="342900" indent="-342900" algn="l">
              <a:lnSpc>
                <a:spcPts val="1150"/>
              </a:lnSpc>
              <a:buSzPct val="100000"/>
              <a:buChar char="•"/>
            </a:pPr>
            <a:r>
              <a:rPr lang="en-US" sz="850" dirty="0">
                <a:solidFill>
                  <a:srgbClr val="EBEDF0"/>
                </a:solidFill>
                <a:latin typeface="Geist" pitchFamily="34" charset="0"/>
                <a:ea typeface="Geist" pitchFamily="34" charset="-122"/>
                <a:cs typeface="Geist" pitchFamily="34" charset="-120"/>
              </a:rPr>
              <a:t>Demographic information</a:t>
            </a:r>
            <a:endParaRPr lang="en-US" sz="850" dirty="0"/>
          </a:p>
        </p:txBody>
      </p:sp>
      <p:sp>
        <p:nvSpPr>
          <p:cNvPr id="21" name="Text 15"/>
          <p:cNvSpPr/>
          <p:nvPr/>
        </p:nvSpPr>
        <p:spPr>
          <a:xfrm>
            <a:off x="396835" y="3403402"/>
            <a:ext cx="6074331" cy="147399"/>
          </a:xfrm>
          <a:prstGeom prst="rect">
            <a:avLst/>
          </a:prstGeom>
          <a:noFill/>
          <a:ln/>
        </p:spPr>
        <p:txBody>
          <a:bodyPr wrap="none" lIns="0" tIns="0" rIns="0" bIns="0" rtlCol="0" anchor="t"/>
          <a:lstStyle/>
          <a:p>
            <a:pPr marL="342900" indent="-342900" algn="l">
              <a:lnSpc>
                <a:spcPts val="1150"/>
              </a:lnSpc>
              <a:buSzPct val="100000"/>
              <a:buChar char="•"/>
            </a:pPr>
            <a:r>
              <a:rPr lang="en-US" sz="850" dirty="0">
                <a:solidFill>
                  <a:srgbClr val="EBEDF0"/>
                </a:solidFill>
                <a:latin typeface="Geist" pitchFamily="34" charset="0"/>
                <a:ea typeface="Geist" pitchFamily="34" charset="-122"/>
                <a:cs typeface="Geist" pitchFamily="34" charset="-120"/>
              </a:rPr>
              <a:t>Behavioural patterns</a:t>
            </a:r>
            <a:endParaRPr lang="en-US" sz="850" dirty="0"/>
          </a:p>
        </p:txBody>
      </p:sp>
      <p:sp>
        <p:nvSpPr>
          <p:cNvPr id="22" name="Text 16"/>
          <p:cNvSpPr/>
          <p:nvPr/>
        </p:nvSpPr>
        <p:spPr>
          <a:xfrm>
            <a:off x="396835" y="3590449"/>
            <a:ext cx="6074331" cy="147399"/>
          </a:xfrm>
          <a:prstGeom prst="rect">
            <a:avLst/>
          </a:prstGeom>
          <a:noFill/>
          <a:ln/>
        </p:spPr>
        <p:txBody>
          <a:bodyPr wrap="none" lIns="0" tIns="0" rIns="0" bIns="0" rtlCol="0" anchor="t"/>
          <a:lstStyle/>
          <a:p>
            <a:pPr marL="342900" indent="-342900" algn="l">
              <a:lnSpc>
                <a:spcPts val="1150"/>
              </a:lnSpc>
              <a:buSzPct val="100000"/>
              <a:buChar char="•"/>
            </a:pPr>
            <a:r>
              <a:rPr lang="en-US" sz="850" dirty="0">
                <a:solidFill>
                  <a:srgbClr val="EBEDF0"/>
                </a:solidFill>
                <a:latin typeface="Geist" pitchFamily="34" charset="0"/>
                <a:ea typeface="Geist" pitchFamily="34" charset="-122"/>
                <a:cs typeface="Geist" pitchFamily="34" charset="-120"/>
              </a:rPr>
              <a:t>Transaction history</a:t>
            </a:r>
            <a:endParaRPr lang="en-US" sz="850" dirty="0"/>
          </a:p>
        </p:txBody>
      </p:sp>
      <p:sp>
        <p:nvSpPr>
          <p:cNvPr id="23" name="Text 17"/>
          <p:cNvSpPr/>
          <p:nvPr/>
        </p:nvSpPr>
        <p:spPr>
          <a:xfrm>
            <a:off x="396835" y="3777496"/>
            <a:ext cx="6074331" cy="147399"/>
          </a:xfrm>
          <a:prstGeom prst="rect">
            <a:avLst/>
          </a:prstGeom>
          <a:noFill/>
          <a:ln/>
        </p:spPr>
        <p:txBody>
          <a:bodyPr wrap="none" lIns="0" tIns="0" rIns="0" bIns="0" rtlCol="0" anchor="t"/>
          <a:lstStyle/>
          <a:p>
            <a:pPr marL="342900" indent="-342900" algn="l">
              <a:lnSpc>
                <a:spcPts val="1150"/>
              </a:lnSpc>
              <a:buSzPct val="100000"/>
              <a:buChar char="•"/>
            </a:pPr>
            <a:r>
              <a:rPr lang="en-US" sz="850" dirty="0">
                <a:solidFill>
                  <a:srgbClr val="EBEDF0"/>
                </a:solidFill>
                <a:latin typeface="Geist" pitchFamily="34" charset="0"/>
                <a:ea typeface="Geist" pitchFamily="34" charset="-122"/>
                <a:cs typeface="Geist" pitchFamily="34" charset="-120"/>
              </a:rPr>
              <a:t>Engagement metrics</a:t>
            </a:r>
            <a:endParaRPr lang="en-US" sz="850" dirty="0"/>
          </a:p>
        </p:txBody>
      </p:sp>
      <p:sp>
        <p:nvSpPr>
          <p:cNvPr id="24" name="Text 18"/>
          <p:cNvSpPr/>
          <p:nvPr/>
        </p:nvSpPr>
        <p:spPr>
          <a:xfrm>
            <a:off x="396835" y="3964543"/>
            <a:ext cx="6074331" cy="147399"/>
          </a:xfrm>
          <a:prstGeom prst="rect">
            <a:avLst/>
          </a:prstGeom>
          <a:noFill/>
          <a:ln/>
        </p:spPr>
        <p:txBody>
          <a:bodyPr wrap="none" lIns="0" tIns="0" rIns="0" bIns="0" rtlCol="0" anchor="t"/>
          <a:lstStyle/>
          <a:p>
            <a:pPr marL="342900" indent="-342900" algn="l">
              <a:lnSpc>
                <a:spcPts val="1150"/>
              </a:lnSpc>
              <a:buSzPct val="100000"/>
              <a:buChar char="•"/>
            </a:pPr>
            <a:r>
              <a:rPr lang="en-US" sz="850" dirty="0">
                <a:solidFill>
                  <a:srgbClr val="EBEDF0"/>
                </a:solidFill>
                <a:latin typeface="Geist" pitchFamily="34" charset="0"/>
                <a:ea typeface="Geist" pitchFamily="34" charset="-122"/>
                <a:cs typeface="Geist" pitchFamily="34" charset="-120"/>
              </a:rPr>
              <a:t>Customer feedback</a:t>
            </a:r>
            <a:endParaRPr lang="en-US" sz="850" dirty="0"/>
          </a:p>
        </p:txBody>
      </p:sp>
      <p:pic>
        <p:nvPicPr>
          <p:cNvPr id="25" name="Image 4" descr="preencoded.png"/>
          <p:cNvPicPr>
            <a:picLocks noChangeAspect="1"/>
          </p:cNvPicPr>
          <p:nvPr/>
        </p:nvPicPr>
        <p:blipFill>
          <a:blip r:embed="rId4"/>
          <a:stretch>
            <a:fillRect/>
          </a:stretch>
        </p:blipFill>
        <p:spPr>
          <a:xfrm>
            <a:off x="6755487" y="3008392"/>
            <a:ext cx="7879508" cy="52053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96835" y="311825"/>
            <a:ext cx="10559415" cy="368498"/>
          </a:xfrm>
          <a:prstGeom prst="rect">
            <a:avLst/>
          </a:prstGeom>
          <a:noFill/>
          <a:ln/>
        </p:spPr>
        <p:txBody>
          <a:bodyPr wrap="none" lIns="0" tIns="0" rIns="0" bIns="0" rtlCol="0" anchor="t"/>
          <a:lstStyle/>
          <a:p>
            <a:pPr marL="0" indent="0" algn="l">
              <a:lnSpc>
                <a:spcPts val="2900"/>
              </a:lnSpc>
              <a:buNone/>
            </a:pPr>
            <a:r>
              <a:rPr lang="en-US" sz="2200" b="1" dirty="0">
                <a:solidFill>
                  <a:srgbClr val="F2F5FA"/>
                </a:solidFill>
                <a:latin typeface="Geist Bold" pitchFamily="34" charset="0"/>
                <a:ea typeface="Geist Bold" pitchFamily="34" charset="-122"/>
                <a:cs typeface="Geist Bold" pitchFamily="34" charset="-120"/>
              </a:rPr>
              <a:t>Exploratory Data Analysis: Uncovering Hidden Patterns in Customer Journey</a:t>
            </a:r>
            <a:endParaRPr lang="en-US" sz="2200" dirty="0"/>
          </a:p>
        </p:txBody>
      </p:sp>
      <p:pic>
        <p:nvPicPr>
          <p:cNvPr id="3" name="Image 0" descr="preencoded.png"/>
          <p:cNvPicPr>
            <a:picLocks noChangeAspect="1"/>
          </p:cNvPicPr>
          <p:nvPr/>
        </p:nvPicPr>
        <p:blipFill>
          <a:blip r:embed="rId3"/>
          <a:stretch>
            <a:fillRect/>
          </a:stretch>
        </p:blipFill>
        <p:spPr>
          <a:xfrm>
            <a:off x="396835" y="907137"/>
            <a:ext cx="4612243" cy="453628"/>
          </a:xfrm>
          <a:prstGeom prst="rect">
            <a:avLst/>
          </a:prstGeom>
        </p:spPr>
      </p:pic>
      <p:sp>
        <p:nvSpPr>
          <p:cNvPr id="4" name="Text 1"/>
          <p:cNvSpPr/>
          <p:nvPr/>
        </p:nvSpPr>
        <p:spPr>
          <a:xfrm>
            <a:off x="510183" y="1474113"/>
            <a:ext cx="1417558"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Univariate Analysis</a:t>
            </a:r>
            <a:endParaRPr lang="en-US" sz="1100" dirty="0"/>
          </a:p>
        </p:txBody>
      </p:sp>
      <p:sp>
        <p:nvSpPr>
          <p:cNvPr id="5" name="Text 2"/>
          <p:cNvSpPr/>
          <p:nvPr/>
        </p:nvSpPr>
        <p:spPr>
          <a:xfrm>
            <a:off x="510183" y="1726406"/>
            <a:ext cx="4385548" cy="294799"/>
          </a:xfrm>
          <a:prstGeom prst="rect">
            <a:avLst/>
          </a:prstGeom>
          <a:noFill/>
          <a:ln/>
        </p:spPr>
        <p:txBody>
          <a:bodyPr wrap="squar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Examine individual variables to understand distributions, central tendencies, and outliers in customer attributes</a:t>
            </a:r>
            <a:endParaRPr lang="en-US" sz="850" dirty="0"/>
          </a:p>
        </p:txBody>
      </p:sp>
      <p:pic>
        <p:nvPicPr>
          <p:cNvPr id="6" name="Image 1" descr="preencoded.png"/>
          <p:cNvPicPr>
            <a:picLocks noChangeAspect="1"/>
          </p:cNvPicPr>
          <p:nvPr/>
        </p:nvPicPr>
        <p:blipFill>
          <a:blip r:embed="rId4"/>
          <a:stretch>
            <a:fillRect/>
          </a:stretch>
        </p:blipFill>
        <p:spPr>
          <a:xfrm>
            <a:off x="5009078" y="907137"/>
            <a:ext cx="4612243" cy="453628"/>
          </a:xfrm>
          <a:prstGeom prst="rect">
            <a:avLst/>
          </a:prstGeom>
        </p:spPr>
      </p:pic>
      <p:sp>
        <p:nvSpPr>
          <p:cNvPr id="7" name="Text 3"/>
          <p:cNvSpPr/>
          <p:nvPr/>
        </p:nvSpPr>
        <p:spPr>
          <a:xfrm>
            <a:off x="5122426" y="1474113"/>
            <a:ext cx="1505783"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Correlation Discovery</a:t>
            </a:r>
            <a:endParaRPr lang="en-US" sz="1100" dirty="0"/>
          </a:p>
        </p:txBody>
      </p:sp>
      <p:sp>
        <p:nvSpPr>
          <p:cNvPr id="8" name="Text 4"/>
          <p:cNvSpPr/>
          <p:nvPr/>
        </p:nvSpPr>
        <p:spPr>
          <a:xfrm>
            <a:off x="5122426" y="1726406"/>
            <a:ext cx="4385548" cy="294799"/>
          </a:xfrm>
          <a:prstGeom prst="rect">
            <a:avLst/>
          </a:prstGeom>
          <a:noFill/>
          <a:ln/>
        </p:spPr>
        <p:txBody>
          <a:bodyPr wrap="squar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Identify relationships between variables to understand which factors most strongly influence churn decisions</a:t>
            </a:r>
            <a:endParaRPr lang="en-US" sz="850" dirty="0"/>
          </a:p>
        </p:txBody>
      </p:sp>
      <p:pic>
        <p:nvPicPr>
          <p:cNvPr id="9" name="Image 2" descr="preencoded.png"/>
          <p:cNvPicPr>
            <a:picLocks noChangeAspect="1"/>
          </p:cNvPicPr>
          <p:nvPr/>
        </p:nvPicPr>
        <p:blipFill>
          <a:blip r:embed="rId5"/>
          <a:stretch>
            <a:fillRect/>
          </a:stretch>
        </p:blipFill>
        <p:spPr>
          <a:xfrm>
            <a:off x="9621322" y="907137"/>
            <a:ext cx="4612243" cy="453628"/>
          </a:xfrm>
          <a:prstGeom prst="rect">
            <a:avLst/>
          </a:prstGeom>
        </p:spPr>
      </p:pic>
      <p:sp>
        <p:nvSpPr>
          <p:cNvPr id="10" name="Text 5"/>
          <p:cNvSpPr/>
          <p:nvPr/>
        </p:nvSpPr>
        <p:spPr>
          <a:xfrm>
            <a:off x="9734669" y="1474113"/>
            <a:ext cx="1569363"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Segmentation Insights</a:t>
            </a:r>
            <a:endParaRPr lang="en-US" sz="1100" dirty="0"/>
          </a:p>
        </p:txBody>
      </p:sp>
      <p:sp>
        <p:nvSpPr>
          <p:cNvPr id="11" name="Text 6"/>
          <p:cNvSpPr/>
          <p:nvPr/>
        </p:nvSpPr>
        <p:spPr>
          <a:xfrm>
            <a:off x="9734669" y="1726406"/>
            <a:ext cx="4385548" cy="294799"/>
          </a:xfrm>
          <a:prstGeom prst="rect">
            <a:avLst/>
          </a:prstGeom>
          <a:noFill/>
          <a:ln/>
        </p:spPr>
        <p:txBody>
          <a:bodyPr wrap="squar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Group customers based on shared characteristics to reveal distinct behaviour patterns and risk profiles</a:t>
            </a:r>
            <a:endParaRPr lang="en-US" sz="850" dirty="0"/>
          </a:p>
        </p:txBody>
      </p:sp>
      <p:pic>
        <p:nvPicPr>
          <p:cNvPr id="12" name="Image 3" descr="preencoded.png"/>
          <p:cNvPicPr>
            <a:picLocks noChangeAspect="1"/>
          </p:cNvPicPr>
          <p:nvPr/>
        </p:nvPicPr>
        <p:blipFill>
          <a:blip r:embed="rId6"/>
          <a:stretch>
            <a:fillRect/>
          </a:stretch>
        </p:blipFill>
        <p:spPr>
          <a:xfrm>
            <a:off x="517603" y="2244815"/>
            <a:ext cx="13715961" cy="54365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1183600"/>
            <a:ext cx="13042821" cy="1474232"/>
          </a:xfrm>
          <a:prstGeom prst="rect">
            <a:avLst/>
          </a:prstGeom>
          <a:noFill/>
          <a:ln/>
        </p:spPr>
        <p:txBody>
          <a:bodyPr wrap="square" lIns="0" tIns="0" rIns="0" bIns="0" rtlCol="0" anchor="t"/>
          <a:lstStyle/>
          <a:p>
            <a:pPr marL="0" indent="0" algn="l">
              <a:lnSpc>
                <a:spcPts val="5800"/>
              </a:lnSpc>
              <a:buNone/>
            </a:pPr>
            <a:r>
              <a:rPr lang="en-US" sz="4450" b="1" dirty="0">
                <a:solidFill>
                  <a:srgbClr val="F2F5FA"/>
                </a:solidFill>
                <a:latin typeface="Geist Bold" pitchFamily="34" charset="0"/>
                <a:ea typeface="Geist Bold" pitchFamily="34" charset="-122"/>
                <a:cs typeface="Geist Bold" pitchFamily="34" charset="-120"/>
              </a:rPr>
              <a:t>Machine Learning Models for Churn Prediction: From Logistic Regression to Random Forest</a:t>
            </a:r>
            <a:endParaRPr lang="en-US" sz="4450" dirty="0"/>
          </a:p>
        </p:txBody>
      </p:sp>
      <p:sp>
        <p:nvSpPr>
          <p:cNvPr id="3" name="Text 1"/>
          <p:cNvSpPr/>
          <p:nvPr/>
        </p:nvSpPr>
        <p:spPr>
          <a:xfrm>
            <a:off x="793790" y="3338274"/>
            <a:ext cx="2835235" cy="368498"/>
          </a:xfrm>
          <a:prstGeom prst="rect">
            <a:avLst/>
          </a:prstGeom>
          <a:noFill/>
          <a:ln/>
        </p:spPr>
        <p:txBody>
          <a:bodyPr wrap="none" lIns="0" tIns="0" rIns="0" bIns="0" rtlCol="0" anchor="t"/>
          <a:lstStyle/>
          <a:p>
            <a:pPr marL="0" indent="0" algn="l">
              <a:lnSpc>
                <a:spcPts val="2900"/>
              </a:lnSpc>
              <a:buNone/>
            </a:pPr>
            <a:r>
              <a:rPr lang="en-US" sz="2200" b="1" dirty="0">
                <a:solidFill>
                  <a:srgbClr val="EBEDF0"/>
                </a:solidFill>
                <a:latin typeface="Geist Bold" pitchFamily="34" charset="0"/>
                <a:ea typeface="Geist Bold" pitchFamily="34" charset="-122"/>
                <a:cs typeface="Geist Bold" pitchFamily="34" charset="-120"/>
              </a:rPr>
              <a:t>Logistic Regression</a:t>
            </a:r>
            <a:endParaRPr lang="en-US" sz="2200" dirty="0"/>
          </a:p>
        </p:txBody>
      </p:sp>
      <p:sp>
        <p:nvSpPr>
          <p:cNvPr id="4" name="Text 2"/>
          <p:cNvSpPr/>
          <p:nvPr/>
        </p:nvSpPr>
        <p:spPr>
          <a:xfrm>
            <a:off x="793790" y="3842861"/>
            <a:ext cx="3048000" cy="2063591"/>
          </a:xfrm>
          <a:prstGeom prst="rect">
            <a:avLst/>
          </a:prstGeom>
          <a:noFill/>
          <a:ln/>
        </p:spPr>
        <p:txBody>
          <a:bodyPr wrap="square" lIns="0" tIns="0" rIns="0" bIns="0" rtlCol="0" anchor="t"/>
          <a:lstStyle/>
          <a:p>
            <a:pPr marL="0" indent="0" algn="l">
              <a:lnSpc>
                <a:spcPts val="2300"/>
              </a:lnSpc>
              <a:buNone/>
            </a:pPr>
            <a:r>
              <a:rPr lang="en-US" sz="1750" dirty="0">
                <a:solidFill>
                  <a:srgbClr val="EBEDF0"/>
                </a:solidFill>
                <a:latin typeface="Geist" pitchFamily="34" charset="0"/>
                <a:ea typeface="Geist" pitchFamily="34" charset="-122"/>
                <a:cs typeface="Geist" pitchFamily="34" charset="-120"/>
              </a:rPr>
              <a:t>Simple yet powerful baseline model that predicts churn probability using linear combinations of features. Offers excellent interpretability and fast training times.</a:t>
            </a:r>
            <a:endParaRPr lang="en-US" sz="1750" dirty="0"/>
          </a:p>
        </p:txBody>
      </p:sp>
      <p:sp>
        <p:nvSpPr>
          <p:cNvPr id="5" name="Text 3"/>
          <p:cNvSpPr/>
          <p:nvPr/>
        </p:nvSpPr>
        <p:spPr>
          <a:xfrm>
            <a:off x="4729127" y="3338274"/>
            <a:ext cx="2835235" cy="368498"/>
          </a:xfrm>
          <a:prstGeom prst="rect">
            <a:avLst/>
          </a:prstGeom>
          <a:noFill/>
          <a:ln/>
        </p:spPr>
        <p:txBody>
          <a:bodyPr wrap="none" lIns="0" tIns="0" rIns="0" bIns="0" rtlCol="0" anchor="t"/>
          <a:lstStyle/>
          <a:p>
            <a:pPr>
              <a:lnSpc>
                <a:spcPts val="2900"/>
              </a:lnSpc>
            </a:pPr>
            <a:r>
              <a:rPr lang="en-US" sz="2200" b="1">
                <a:solidFill>
                  <a:srgbClr val="EBEDF0"/>
                </a:solidFill>
                <a:ea typeface="+mn-lt"/>
                <a:cs typeface="+mn-lt"/>
              </a:rPr>
              <a:t>Random Forest</a:t>
            </a:r>
            <a:endParaRPr lang="en-US"/>
          </a:p>
        </p:txBody>
      </p:sp>
      <p:sp>
        <p:nvSpPr>
          <p:cNvPr id="6" name="Text 4"/>
          <p:cNvSpPr/>
          <p:nvPr/>
        </p:nvSpPr>
        <p:spPr>
          <a:xfrm>
            <a:off x="4729127" y="3842861"/>
            <a:ext cx="3048119" cy="1768793"/>
          </a:xfrm>
          <a:prstGeom prst="rect">
            <a:avLst/>
          </a:prstGeom>
          <a:noFill/>
          <a:ln/>
        </p:spPr>
        <p:txBody>
          <a:bodyPr wrap="square" lIns="0" tIns="0" rIns="0" bIns="0" rtlCol="0" anchor="t"/>
          <a:lstStyle/>
          <a:p>
            <a:r>
              <a:rPr lang="en-US" dirty="0">
                <a:solidFill>
                  <a:srgbClr val="EBEDF0"/>
                </a:solidFill>
                <a:latin typeface="Geist"/>
                <a:ea typeface="Geist"/>
                <a:cs typeface="Geist"/>
              </a:rPr>
              <a:t>Ensemble method combining multiple decision trees for superior accuracy. Handles non-linear relationships and feature interactions effectively.</a:t>
            </a:r>
            <a:endParaRPr lang="en-US" dirty="0">
              <a:solidFill>
                <a:srgbClr val="000000"/>
              </a:solidFill>
              <a:latin typeface="Geist"/>
              <a:ea typeface="Geist"/>
              <a:cs typeface="Geist"/>
            </a:endParaRPr>
          </a:p>
          <a:p>
            <a:pPr>
              <a:lnSpc>
                <a:spcPts val="2300"/>
              </a:lnSpc>
            </a:pPr>
            <a:endParaRPr lang="en-US" sz="2200" b="1" dirty="0">
              <a:solidFill>
                <a:srgbClr val="EBEDF0"/>
              </a:solidFill>
              <a:ea typeface="Calibri"/>
              <a:cs typeface="Calibri"/>
            </a:endParaRPr>
          </a:p>
        </p:txBody>
      </p:sp>
      <p:sp>
        <p:nvSpPr>
          <p:cNvPr id="9" name="Text 7"/>
          <p:cNvSpPr/>
          <p:nvPr/>
        </p:nvSpPr>
        <p:spPr>
          <a:xfrm>
            <a:off x="8631887" y="3338274"/>
            <a:ext cx="2835235" cy="368498"/>
          </a:xfrm>
          <a:prstGeom prst="rect">
            <a:avLst/>
          </a:prstGeom>
          <a:noFill/>
          <a:ln/>
        </p:spPr>
        <p:txBody>
          <a:bodyPr wrap="none" lIns="0" tIns="0" rIns="0" bIns="0" rtlCol="0" anchor="t"/>
          <a:lstStyle/>
          <a:p>
            <a:pPr>
              <a:lnSpc>
                <a:spcPts val="2900"/>
              </a:lnSpc>
            </a:pPr>
            <a:r>
              <a:rPr lang="en-US" sz="2200" b="1" dirty="0">
                <a:solidFill>
                  <a:srgbClr val="EBEDF0"/>
                </a:solidFill>
                <a:ea typeface="+mn-lt"/>
                <a:cs typeface="+mn-lt"/>
              </a:rPr>
              <a:t>XG Boost</a:t>
            </a:r>
            <a:endParaRPr lang="en-US" b="1" dirty="0">
              <a:ea typeface="Calibri"/>
              <a:cs typeface="Calibri"/>
            </a:endParaRPr>
          </a:p>
        </p:txBody>
      </p:sp>
      <p:sp>
        <p:nvSpPr>
          <p:cNvPr id="10" name="Text 8"/>
          <p:cNvSpPr/>
          <p:nvPr/>
        </p:nvSpPr>
        <p:spPr>
          <a:xfrm>
            <a:off x="8649140" y="3842861"/>
            <a:ext cx="3048119" cy="1768793"/>
          </a:xfrm>
          <a:prstGeom prst="rect">
            <a:avLst/>
          </a:prstGeom>
          <a:noFill/>
          <a:ln/>
        </p:spPr>
        <p:txBody>
          <a:bodyPr wrap="square" lIns="0" tIns="0" rIns="0" bIns="0" rtlCol="0" anchor="t"/>
          <a:lstStyle/>
          <a:p>
            <a:pPr marL="0" indent="0" algn="l">
              <a:lnSpc>
                <a:spcPts val="2300"/>
              </a:lnSpc>
              <a:buNone/>
            </a:pPr>
            <a:r>
              <a:rPr lang="en-US" sz="1750" dirty="0">
                <a:solidFill>
                  <a:srgbClr val="EBEDF0"/>
                </a:solidFill>
                <a:latin typeface="Geist" pitchFamily="34" charset="0"/>
                <a:ea typeface="Geist" pitchFamily="34" charset="-122"/>
                <a:cs typeface="Geist" pitchFamily="34" charset="-120"/>
              </a:rPr>
              <a:t>Advanced ensemble technique that sequentially builds models to correct previous errors. Often achieves highest prediction accuracy for churn scenarios.</a:t>
            </a:r>
            <a:endParaRPr lang="en-US" sz="1750" dirty="0"/>
          </a:p>
        </p:txBody>
      </p:sp>
      <p:sp>
        <p:nvSpPr>
          <p:cNvPr id="11" name="Text 9"/>
          <p:cNvSpPr/>
          <p:nvPr/>
        </p:nvSpPr>
        <p:spPr>
          <a:xfrm>
            <a:off x="793790" y="6161603"/>
            <a:ext cx="13042821" cy="884396"/>
          </a:xfrm>
          <a:prstGeom prst="rect">
            <a:avLst/>
          </a:prstGeom>
          <a:noFill/>
          <a:ln/>
        </p:spPr>
        <p:txBody>
          <a:bodyPr wrap="square" lIns="0" tIns="0" rIns="0" bIns="0" rtlCol="0" anchor="t"/>
          <a:lstStyle/>
          <a:p>
            <a:pPr marL="0" indent="0" algn="l">
              <a:lnSpc>
                <a:spcPts val="2300"/>
              </a:lnSpc>
              <a:buNone/>
            </a:pPr>
            <a:r>
              <a:rPr lang="en-US" sz="1750" dirty="0">
                <a:solidFill>
                  <a:srgbClr val="EBEDF0"/>
                </a:solidFill>
                <a:latin typeface="Geist" pitchFamily="34" charset="0"/>
                <a:ea typeface="Geist" pitchFamily="34" charset="-122"/>
                <a:cs typeface="Geist" pitchFamily="34" charset="-120"/>
              </a:rPr>
              <a:t>Model selection depends on your specific requirements: logistic regression for interpretability, random forest for balanced performance, or gradient boosting for maximum accuracy. Consider experimenting with multiple approaches and comparing results.</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96835" y="311825"/>
            <a:ext cx="12020550" cy="368498"/>
          </a:xfrm>
          <a:prstGeom prst="rect">
            <a:avLst/>
          </a:prstGeom>
          <a:noFill/>
          <a:ln/>
        </p:spPr>
        <p:txBody>
          <a:bodyPr wrap="none" lIns="0" tIns="0" rIns="0" bIns="0" rtlCol="0" anchor="t"/>
          <a:lstStyle/>
          <a:p>
            <a:pPr marL="0" indent="0" algn="l">
              <a:lnSpc>
                <a:spcPts val="2900"/>
              </a:lnSpc>
              <a:buNone/>
            </a:pPr>
            <a:r>
              <a:rPr lang="en-US" sz="2200" b="1" dirty="0">
                <a:solidFill>
                  <a:srgbClr val="F2F5FA"/>
                </a:solidFill>
                <a:latin typeface="Geist Bold" pitchFamily="34" charset="0"/>
                <a:ea typeface="Geist Bold" pitchFamily="34" charset="-122"/>
                <a:cs typeface="Geist Bold" pitchFamily="34" charset="-120"/>
              </a:rPr>
              <a:t>Model Performance Evaluation: Measuring Success with Precision, Recall and F1-Score</a:t>
            </a:r>
            <a:endParaRPr lang="en-US" sz="2200" dirty="0"/>
          </a:p>
        </p:txBody>
      </p:sp>
      <p:sp>
        <p:nvSpPr>
          <p:cNvPr id="3" name="Text 1"/>
          <p:cNvSpPr/>
          <p:nvPr/>
        </p:nvSpPr>
        <p:spPr>
          <a:xfrm>
            <a:off x="396835" y="963692"/>
            <a:ext cx="1875472" cy="184309"/>
          </a:xfrm>
          <a:prstGeom prst="rect">
            <a:avLst/>
          </a:prstGeom>
          <a:noFill/>
          <a:ln/>
        </p:spPr>
        <p:txBody>
          <a:bodyPr wrap="none" lIns="0" tIns="0" rIns="0" bIns="0" rtlCol="0" anchor="t"/>
          <a:lstStyle/>
          <a:p>
            <a:pPr marL="0" indent="0" algn="l">
              <a:lnSpc>
                <a:spcPts val="1450"/>
              </a:lnSpc>
              <a:buNone/>
            </a:pPr>
            <a:r>
              <a:rPr lang="en-US" sz="1100" b="1" dirty="0">
                <a:solidFill>
                  <a:srgbClr val="F2F5FA"/>
                </a:solidFill>
                <a:latin typeface="Geist Bold" pitchFamily="34" charset="0"/>
                <a:ea typeface="Geist Bold" pitchFamily="34" charset="-122"/>
                <a:cs typeface="Geist Bold" pitchFamily="34" charset="-120"/>
              </a:rPr>
              <a:t>Understanding Key Metrics</a:t>
            </a:r>
            <a:endParaRPr lang="en-US" sz="1100" dirty="0"/>
          </a:p>
        </p:txBody>
      </p:sp>
      <p:sp>
        <p:nvSpPr>
          <p:cNvPr id="4" name="Text 2"/>
          <p:cNvSpPr/>
          <p:nvPr/>
        </p:nvSpPr>
        <p:spPr>
          <a:xfrm>
            <a:off x="396835" y="1261348"/>
            <a:ext cx="6780014" cy="294799"/>
          </a:xfrm>
          <a:prstGeom prst="rect">
            <a:avLst/>
          </a:prstGeom>
          <a:noFill/>
          <a:ln/>
        </p:spPr>
        <p:txBody>
          <a:bodyPr wrap="square" lIns="0" tIns="0" rIns="0" bIns="0" rtlCol="0" anchor="t"/>
          <a:lstStyle/>
          <a:p>
            <a:pPr marL="0" indent="0" algn="l">
              <a:lnSpc>
                <a:spcPts val="1150"/>
              </a:lnSpc>
              <a:buNone/>
            </a:pPr>
            <a:r>
              <a:rPr lang="en-US" sz="850" b="1" dirty="0">
                <a:solidFill>
                  <a:srgbClr val="6296FF"/>
                </a:solidFill>
                <a:latin typeface="Geist" pitchFamily="34" charset="0"/>
                <a:ea typeface="Geist" pitchFamily="34" charset="-122"/>
                <a:cs typeface="Geist" pitchFamily="34" charset="-120"/>
              </a:rPr>
              <a:t>Precision</a:t>
            </a:r>
            <a:r>
              <a:rPr lang="en-US" sz="850" dirty="0">
                <a:solidFill>
                  <a:srgbClr val="EBEDF0"/>
                </a:solidFill>
                <a:latin typeface="Geist" pitchFamily="34" charset="0"/>
                <a:ea typeface="Geist" pitchFamily="34" charset="-122"/>
                <a:cs typeface="Geist" pitchFamily="34" charset="-120"/>
              </a:rPr>
              <a:t> measures the accuracy of positive predictions—what percentage of customers flagged as churners actually churned. High precision minimises wasted retention efforts.</a:t>
            </a:r>
            <a:endParaRPr lang="en-US" sz="850" dirty="0"/>
          </a:p>
        </p:txBody>
      </p:sp>
      <p:sp>
        <p:nvSpPr>
          <p:cNvPr id="5" name="Text 3"/>
          <p:cNvSpPr/>
          <p:nvPr/>
        </p:nvSpPr>
        <p:spPr>
          <a:xfrm>
            <a:off x="396835" y="1658183"/>
            <a:ext cx="6780014" cy="147399"/>
          </a:xfrm>
          <a:prstGeom prst="rect">
            <a:avLst/>
          </a:prstGeom>
          <a:noFill/>
          <a:ln/>
        </p:spPr>
        <p:txBody>
          <a:bodyPr wrap="none" lIns="0" tIns="0" rIns="0" bIns="0" rtlCol="0" anchor="t"/>
          <a:lstStyle/>
          <a:p>
            <a:pPr marL="0" indent="0" algn="l">
              <a:lnSpc>
                <a:spcPts val="1150"/>
              </a:lnSpc>
              <a:buNone/>
            </a:pPr>
            <a:r>
              <a:rPr lang="en-US" sz="850" b="1" dirty="0">
                <a:solidFill>
                  <a:srgbClr val="6296FF"/>
                </a:solidFill>
                <a:latin typeface="Geist" pitchFamily="34" charset="0"/>
                <a:ea typeface="Geist" pitchFamily="34" charset="-122"/>
                <a:cs typeface="Geist" pitchFamily="34" charset="-120"/>
              </a:rPr>
              <a:t>Recall</a:t>
            </a:r>
            <a:r>
              <a:rPr lang="en-US" sz="850" dirty="0">
                <a:solidFill>
                  <a:srgbClr val="EBEDF0"/>
                </a:solidFill>
                <a:latin typeface="Geist" pitchFamily="34" charset="0"/>
                <a:ea typeface="Geist" pitchFamily="34" charset="-122"/>
                <a:cs typeface="Geist" pitchFamily="34" charset="-120"/>
              </a:rPr>
              <a:t> measures how many actual churners were successfully identified. High recall ensures you don't miss at-risk customers.</a:t>
            </a:r>
            <a:endParaRPr lang="en-US" sz="850" dirty="0"/>
          </a:p>
        </p:txBody>
      </p:sp>
      <p:sp>
        <p:nvSpPr>
          <p:cNvPr id="6" name="Text 4"/>
          <p:cNvSpPr/>
          <p:nvPr/>
        </p:nvSpPr>
        <p:spPr>
          <a:xfrm>
            <a:off x="396835" y="1907619"/>
            <a:ext cx="6780014" cy="147399"/>
          </a:xfrm>
          <a:prstGeom prst="rect">
            <a:avLst/>
          </a:prstGeom>
          <a:noFill/>
          <a:ln/>
        </p:spPr>
        <p:txBody>
          <a:bodyPr wrap="none" lIns="0" tIns="0" rIns="0" bIns="0" rtlCol="0" anchor="t"/>
          <a:lstStyle/>
          <a:p>
            <a:pPr marL="0" indent="0" algn="l">
              <a:lnSpc>
                <a:spcPts val="1150"/>
              </a:lnSpc>
              <a:buNone/>
            </a:pPr>
            <a:r>
              <a:rPr lang="en-US" sz="850" b="1" dirty="0">
                <a:solidFill>
                  <a:srgbClr val="6296FF"/>
                </a:solidFill>
                <a:latin typeface="Geist" pitchFamily="34" charset="0"/>
                <a:ea typeface="Geist" pitchFamily="34" charset="-122"/>
                <a:cs typeface="Geist" pitchFamily="34" charset="-120"/>
              </a:rPr>
              <a:t>F1-Score</a:t>
            </a:r>
            <a:r>
              <a:rPr lang="en-US" sz="850" dirty="0">
                <a:solidFill>
                  <a:srgbClr val="EBEDF0"/>
                </a:solidFill>
                <a:latin typeface="Geist" pitchFamily="34" charset="0"/>
                <a:ea typeface="Geist" pitchFamily="34" charset="-122"/>
                <a:cs typeface="Geist" pitchFamily="34" charset="-120"/>
              </a:rPr>
              <a:t> provides a balanced metric combining precision and recall, especially valuable when dealing with imbalanced datasets.</a:t>
            </a:r>
            <a:endParaRPr lang="en-US" sz="850" dirty="0"/>
          </a:p>
        </p:txBody>
      </p:sp>
      <p:pic>
        <p:nvPicPr>
          <p:cNvPr id="7" name="Image 0" descr="preencoded.png"/>
          <p:cNvPicPr>
            <a:picLocks noChangeAspect="1"/>
          </p:cNvPicPr>
          <p:nvPr/>
        </p:nvPicPr>
        <p:blipFill>
          <a:blip r:embed="rId3"/>
          <a:stretch>
            <a:fillRect/>
          </a:stretch>
        </p:blipFill>
        <p:spPr>
          <a:xfrm>
            <a:off x="7461171" y="977860"/>
            <a:ext cx="6780014" cy="6780014"/>
          </a:xfrm>
          <a:prstGeom prst="rect">
            <a:avLst/>
          </a:prstGeom>
        </p:spPr>
      </p:pic>
      <p:sp>
        <p:nvSpPr>
          <p:cNvPr id="8" name="Text 5"/>
          <p:cNvSpPr/>
          <p:nvPr/>
        </p:nvSpPr>
        <p:spPr>
          <a:xfrm>
            <a:off x="1958102" y="8750022"/>
            <a:ext cx="1394936" cy="283488"/>
          </a:xfrm>
          <a:prstGeom prst="rect">
            <a:avLst/>
          </a:prstGeom>
          <a:noFill/>
          <a:ln/>
        </p:spPr>
        <p:txBody>
          <a:bodyPr wrap="none" lIns="0" tIns="0" rIns="0" bIns="0" rtlCol="0" anchor="t"/>
          <a:lstStyle/>
          <a:p>
            <a:pPr marL="0" indent="0" algn="ctr">
              <a:lnSpc>
                <a:spcPts val="2200"/>
              </a:lnSpc>
              <a:buNone/>
            </a:pPr>
            <a:r>
              <a:rPr lang="en-US" sz="2200" b="1" dirty="0">
                <a:solidFill>
                  <a:srgbClr val="EBEDF0"/>
                </a:solidFill>
                <a:latin typeface="Geist Bold" pitchFamily="34" charset="0"/>
                <a:ea typeface="Geist Bold" pitchFamily="34" charset="-122"/>
                <a:cs typeface="Geist Bold" pitchFamily="34" charset="-120"/>
              </a:rPr>
              <a:t>87%</a:t>
            </a:r>
            <a:endParaRPr lang="en-US" sz="2200" dirty="0"/>
          </a:p>
        </p:txBody>
      </p:sp>
      <p:pic>
        <p:nvPicPr>
          <p:cNvPr id="9" name="Image 1" descr="preencoded.png"/>
          <p:cNvPicPr>
            <a:picLocks noChangeAspect="1"/>
          </p:cNvPicPr>
          <p:nvPr/>
        </p:nvPicPr>
        <p:blipFill>
          <a:blip r:embed="rId4"/>
          <a:stretch>
            <a:fillRect/>
          </a:stretch>
        </p:blipFill>
        <p:spPr>
          <a:xfrm>
            <a:off x="1805107" y="8041243"/>
            <a:ext cx="1701165" cy="1701165"/>
          </a:xfrm>
          <a:prstGeom prst="rect">
            <a:avLst/>
          </a:prstGeom>
        </p:spPr>
      </p:pic>
      <p:sp>
        <p:nvSpPr>
          <p:cNvPr id="10" name="Text 6"/>
          <p:cNvSpPr/>
          <p:nvPr/>
        </p:nvSpPr>
        <p:spPr>
          <a:xfrm>
            <a:off x="1946910" y="9884093"/>
            <a:ext cx="1417558" cy="184309"/>
          </a:xfrm>
          <a:prstGeom prst="rect">
            <a:avLst/>
          </a:prstGeom>
          <a:noFill/>
          <a:ln/>
        </p:spPr>
        <p:txBody>
          <a:bodyPr wrap="none" lIns="0" tIns="0" rIns="0" bIns="0" rtlCol="0" anchor="t"/>
          <a:lstStyle/>
          <a:p>
            <a:pPr marL="0" indent="0" algn="ctr">
              <a:lnSpc>
                <a:spcPts val="1450"/>
              </a:lnSpc>
              <a:buNone/>
            </a:pPr>
            <a:r>
              <a:rPr lang="en-US" sz="1100" b="1" dirty="0">
                <a:solidFill>
                  <a:srgbClr val="EBEDF0"/>
                </a:solidFill>
                <a:latin typeface="Geist Bold" pitchFamily="34" charset="0"/>
                <a:ea typeface="Geist Bold" pitchFamily="34" charset="-122"/>
                <a:cs typeface="Geist Bold" pitchFamily="34" charset="-120"/>
              </a:rPr>
              <a:t>Model Precision</a:t>
            </a:r>
            <a:endParaRPr lang="en-US" sz="1100" dirty="0"/>
          </a:p>
        </p:txBody>
      </p:sp>
      <p:sp>
        <p:nvSpPr>
          <p:cNvPr id="11" name="Text 7"/>
          <p:cNvSpPr/>
          <p:nvPr/>
        </p:nvSpPr>
        <p:spPr>
          <a:xfrm>
            <a:off x="396835" y="10136386"/>
            <a:ext cx="4517708" cy="147399"/>
          </a:xfrm>
          <a:prstGeom prst="rect">
            <a:avLst/>
          </a:prstGeom>
          <a:noFill/>
          <a:ln/>
        </p:spPr>
        <p:txBody>
          <a:bodyPr wrap="none" lIns="0" tIns="0" rIns="0" bIns="0" rtlCol="0" anchor="t"/>
          <a:lstStyle/>
          <a:p>
            <a:pPr marL="0" indent="0" algn="ctr">
              <a:lnSpc>
                <a:spcPts val="1150"/>
              </a:lnSpc>
              <a:buNone/>
            </a:pPr>
            <a:r>
              <a:rPr lang="en-US" sz="850" dirty="0">
                <a:solidFill>
                  <a:srgbClr val="EBEDF0"/>
                </a:solidFill>
                <a:latin typeface="Geist" pitchFamily="34" charset="0"/>
                <a:ea typeface="Geist" pitchFamily="34" charset="-122"/>
                <a:cs typeface="Geist" pitchFamily="34" charset="-120"/>
              </a:rPr>
              <a:t>87 out of 100 predicted churners actually left</a:t>
            </a:r>
            <a:endParaRPr lang="en-US" sz="850" dirty="0"/>
          </a:p>
        </p:txBody>
      </p:sp>
      <p:sp>
        <p:nvSpPr>
          <p:cNvPr id="12" name="Text 8"/>
          <p:cNvSpPr/>
          <p:nvPr/>
        </p:nvSpPr>
        <p:spPr>
          <a:xfrm>
            <a:off x="6617494" y="8750022"/>
            <a:ext cx="1394936" cy="283488"/>
          </a:xfrm>
          <a:prstGeom prst="rect">
            <a:avLst/>
          </a:prstGeom>
          <a:noFill/>
          <a:ln/>
        </p:spPr>
        <p:txBody>
          <a:bodyPr wrap="none" lIns="0" tIns="0" rIns="0" bIns="0" rtlCol="0" anchor="t"/>
          <a:lstStyle/>
          <a:p>
            <a:pPr marL="0" indent="0" algn="ctr">
              <a:lnSpc>
                <a:spcPts val="2200"/>
              </a:lnSpc>
              <a:buNone/>
            </a:pPr>
            <a:r>
              <a:rPr lang="en-US" sz="2200" b="1" dirty="0">
                <a:solidFill>
                  <a:srgbClr val="EBEDF0"/>
                </a:solidFill>
                <a:latin typeface="Geist Bold" pitchFamily="34" charset="0"/>
                <a:ea typeface="Geist Bold" pitchFamily="34" charset="-122"/>
                <a:cs typeface="Geist Bold" pitchFamily="34" charset="-120"/>
              </a:rPr>
              <a:t>82%</a:t>
            </a:r>
            <a:endParaRPr lang="en-US" sz="2200" dirty="0"/>
          </a:p>
        </p:txBody>
      </p:sp>
      <p:pic>
        <p:nvPicPr>
          <p:cNvPr id="13" name="Image 2" descr="preencoded.png"/>
          <p:cNvPicPr>
            <a:picLocks noChangeAspect="1"/>
          </p:cNvPicPr>
          <p:nvPr/>
        </p:nvPicPr>
        <p:blipFill>
          <a:blip r:embed="rId5"/>
          <a:stretch>
            <a:fillRect/>
          </a:stretch>
        </p:blipFill>
        <p:spPr>
          <a:xfrm>
            <a:off x="6464498" y="8041243"/>
            <a:ext cx="1701165" cy="1701165"/>
          </a:xfrm>
          <a:prstGeom prst="rect">
            <a:avLst/>
          </a:prstGeom>
        </p:spPr>
      </p:pic>
      <p:sp>
        <p:nvSpPr>
          <p:cNvPr id="14" name="Text 9"/>
          <p:cNvSpPr/>
          <p:nvPr/>
        </p:nvSpPr>
        <p:spPr>
          <a:xfrm>
            <a:off x="6606302" y="9884093"/>
            <a:ext cx="1417558" cy="184309"/>
          </a:xfrm>
          <a:prstGeom prst="rect">
            <a:avLst/>
          </a:prstGeom>
          <a:noFill/>
          <a:ln/>
        </p:spPr>
        <p:txBody>
          <a:bodyPr wrap="none" lIns="0" tIns="0" rIns="0" bIns="0" rtlCol="0" anchor="t"/>
          <a:lstStyle/>
          <a:p>
            <a:pPr marL="0" indent="0" algn="ctr">
              <a:lnSpc>
                <a:spcPts val="1450"/>
              </a:lnSpc>
              <a:buNone/>
            </a:pPr>
            <a:r>
              <a:rPr lang="en-US" sz="1100" b="1" dirty="0">
                <a:solidFill>
                  <a:srgbClr val="EBEDF0"/>
                </a:solidFill>
                <a:latin typeface="Geist Bold" pitchFamily="34" charset="0"/>
                <a:ea typeface="Geist Bold" pitchFamily="34" charset="-122"/>
                <a:cs typeface="Geist Bold" pitchFamily="34" charset="-120"/>
              </a:rPr>
              <a:t>Model Recall</a:t>
            </a:r>
            <a:endParaRPr lang="en-US" sz="1100" dirty="0"/>
          </a:p>
        </p:txBody>
      </p:sp>
      <p:sp>
        <p:nvSpPr>
          <p:cNvPr id="15" name="Text 10"/>
          <p:cNvSpPr/>
          <p:nvPr/>
        </p:nvSpPr>
        <p:spPr>
          <a:xfrm>
            <a:off x="5056227" y="10136386"/>
            <a:ext cx="4517827" cy="147399"/>
          </a:xfrm>
          <a:prstGeom prst="rect">
            <a:avLst/>
          </a:prstGeom>
          <a:noFill/>
          <a:ln/>
        </p:spPr>
        <p:txBody>
          <a:bodyPr wrap="none" lIns="0" tIns="0" rIns="0" bIns="0" rtlCol="0" anchor="t"/>
          <a:lstStyle/>
          <a:p>
            <a:pPr marL="0" indent="0" algn="ctr">
              <a:lnSpc>
                <a:spcPts val="1150"/>
              </a:lnSpc>
              <a:buNone/>
            </a:pPr>
            <a:r>
              <a:rPr lang="en-US" sz="850" dirty="0">
                <a:solidFill>
                  <a:srgbClr val="EBEDF0"/>
                </a:solidFill>
                <a:latin typeface="Geist" pitchFamily="34" charset="0"/>
                <a:ea typeface="Geist" pitchFamily="34" charset="-122"/>
                <a:cs typeface="Geist" pitchFamily="34" charset="-120"/>
              </a:rPr>
              <a:t>Successfully identified 82% of all churning customers</a:t>
            </a:r>
            <a:endParaRPr lang="en-US" sz="850" dirty="0"/>
          </a:p>
        </p:txBody>
      </p:sp>
      <p:sp>
        <p:nvSpPr>
          <p:cNvPr id="16" name="Text 11"/>
          <p:cNvSpPr/>
          <p:nvPr/>
        </p:nvSpPr>
        <p:spPr>
          <a:xfrm>
            <a:off x="11277005" y="8750022"/>
            <a:ext cx="1394936" cy="283488"/>
          </a:xfrm>
          <a:prstGeom prst="rect">
            <a:avLst/>
          </a:prstGeom>
          <a:noFill/>
          <a:ln/>
        </p:spPr>
        <p:txBody>
          <a:bodyPr wrap="none" lIns="0" tIns="0" rIns="0" bIns="0" rtlCol="0" anchor="t"/>
          <a:lstStyle/>
          <a:p>
            <a:pPr marL="0" indent="0" algn="ctr">
              <a:lnSpc>
                <a:spcPts val="2200"/>
              </a:lnSpc>
              <a:buNone/>
            </a:pPr>
            <a:r>
              <a:rPr lang="en-US" sz="2200" b="1" dirty="0">
                <a:solidFill>
                  <a:srgbClr val="EBEDF0"/>
                </a:solidFill>
                <a:latin typeface="Geist Bold" pitchFamily="34" charset="0"/>
                <a:ea typeface="Geist Bold" pitchFamily="34" charset="-122"/>
                <a:cs typeface="Geist Bold" pitchFamily="34" charset="-120"/>
              </a:rPr>
              <a:t>84%</a:t>
            </a:r>
            <a:endParaRPr lang="en-US" sz="2200" dirty="0"/>
          </a:p>
        </p:txBody>
      </p:sp>
      <p:pic>
        <p:nvPicPr>
          <p:cNvPr id="17" name="Image 3" descr="preencoded.png"/>
          <p:cNvPicPr>
            <a:picLocks noChangeAspect="1"/>
          </p:cNvPicPr>
          <p:nvPr/>
        </p:nvPicPr>
        <p:blipFill>
          <a:blip r:embed="rId6"/>
          <a:stretch>
            <a:fillRect/>
          </a:stretch>
        </p:blipFill>
        <p:spPr>
          <a:xfrm>
            <a:off x="11124009" y="8041243"/>
            <a:ext cx="1701165" cy="1701165"/>
          </a:xfrm>
          <a:prstGeom prst="rect">
            <a:avLst/>
          </a:prstGeom>
        </p:spPr>
      </p:pic>
      <p:sp>
        <p:nvSpPr>
          <p:cNvPr id="18" name="Text 12"/>
          <p:cNvSpPr/>
          <p:nvPr/>
        </p:nvSpPr>
        <p:spPr>
          <a:xfrm>
            <a:off x="11265813" y="9884093"/>
            <a:ext cx="1417558" cy="184309"/>
          </a:xfrm>
          <a:prstGeom prst="rect">
            <a:avLst/>
          </a:prstGeom>
          <a:noFill/>
          <a:ln/>
        </p:spPr>
        <p:txBody>
          <a:bodyPr wrap="none" lIns="0" tIns="0" rIns="0" bIns="0" rtlCol="0" anchor="t"/>
          <a:lstStyle/>
          <a:p>
            <a:pPr marL="0" indent="0" algn="ctr">
              <a:lnSpc>
                <a:spcPts val="1450"/>
              </a:lnSpc>
              <a:buNone/>
            </a:pPr>
            <a:r>
              <a:rPr lang="en-US" sz="1100" b="1" dirty="0">
                <a:solidFill>
                  <a:srgbClr val="EBEDF0"/>
                </a:solidFill>
                <a:latin typeface="Geist Bold" pitchFamily="34" charset="0"/>
                <a:ea typeface="Geist Bold" pitchFamily="34" charset="-122"/>
                <a:cs typeface="Geist Bold" pitchFamily="34" charset="-120"/>
              </a:rPr>
              <a:t>F1-Score</a:t>
            </a:r>
            <a:endParaRPr lang="en-US" sz="1100" dirty="0"/>
          </a:p>
        </p:txBody>
      </p:sp>
      <p:sp>
        <p:nvSpPr>
          <p:cNvPr id="19" name="Text 13"/>
          <p:cNvSpPr/>
          <p:nvPr/>
        </p:nvSpPr>
        <p:spPr>
          <a:xfrm>
            <a:off x="9715738" y="10136386"/>
            <a:ext cx="4517708" cy="147399"/>
          </a:xfrm>
          <a:prstGeom prst="rect">
            <a:avLst/>
          </a:prstGeom>
          <a:noFill/>
          <a:ln/>
        </p:spPr>
        <p:txBody>
          <a:bodyPr wrap="none" lIns="0" tIns="0" rIns="0" bIns="0" rtlCol="0" anchor="t"/>
          <a:lstStyle/>
          <a:p>
            <a:pPr marL="0" indent="0" algn="ctr">
              <a:lnSpc>
                <a:spcPts val="1150"/>
              </a:lnSpc>
              <a:buNone/>
            </a:pPr>
            <a:r>
              <a:rPr lang="en-US" sz="850" dirty="0">
                <a:solidFill>
                  <a:srgbClr val="EBEDF0"/>
                </a:solidFill>
                <a:latin typeface="Geist" pitchFamily="34" charset="0"/>
                <a:ea typeface="Geist" pitchFamily="34" charset="-122"/>
                <a:cs typeface="Geist" pitchFamily="34" charset="-120"/>
              </a:rPr>
              <a:t>Balanced performance across both metrics</a:t>
            </a:r>
            <a:endParaRPr lang="en-US" sz="850" dirty="0"/>
          </a:p>
        </p:txBody>
      </p:sp>
      <p:sp>
        <p:nvSpPr>
          <p:cNvPr id="20" name="Text 14"/>
          <p:cNvSpPr/>
          <p:nvPr/>
        </p:nvSpPr>
        <p:spPr>
          <a:xfrm>
            <a:off x="396835" y="10411301"/>
            <a:ext cx="13836729"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Beyond these metrics, consider business context: the cost of false positives (wasted retention spending) versus false negatives (lost customers). Adjust classification thresholds to align model outputs with your organisation's strategic priorities and budget constraints.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1488400"/>
          </a:xfrm>
          <a:prstGeom prst="rect">
            <a:avLst/>
          </a:prstGeom>
        </p:spPr>
      </p:pic>
      <p:sp>
        <p:nvSpPr>
          <p:cNvPr id="3" name="Text 0"/>
          <p:cNvSpPr/>
          <p:nvPr/>
        </p:nvSpPr>
        <p:spPr>
          <a:xfrm>
            <a:off x="396835" y="1729383"/>
            <a:ext cx="11818501" cy="368498"/>
          </a:xfrm>
          <a:prstGeom prst="rect">
            <a:avLst/>
          </a:prstGeom>
          <a:noFill/>
          <a:ln/>
        </p:spPr>
        <p:txBody>
          <a:bodyPr wrap="none" lIns="0" tIns="0" rIns="0" bIns="0" rtlCol="0" anchor="t"/>
          <a:lstStyle/>
          <a:p>
            <a:pPr marL="0" indent="0" algn="l">
              <a:lnSpc>
                <a:spcPts val="2900"/>
              </a:lnSpc>
              <a:buNone/>
            </a:pPr>
            <a:r>
              <a:rPr lang="en-US" sz="2200" b="1" dirty="0">
                <a:solidFill>
                  <a:srgbClr val="F2F5FA"/>
                </a:solidFill>
                <a:latin typeface="Geist Bold" pitchFamily="34" charset="0"/>
                <a:ea typeface="Geist Bold" pitchFamily="34" charset="-122"/>
                <a:cs typeface="Geist Bold" pitchFamily="34" charset="-120"/>
              </a:rPr>
              <a:t>Implementing Predictive Insights: Proactive Retention Campaigns That Actually Work</a:t>
            </a:r>
            <a:endParaRPr lang="en-US" sz="2200" dirty="0"/>
          </a:p>
        </p:txBody>
      </p:sp>
      <p:sp>
        <p:nvSpPr>
          <p:cNvPr id="4" name="Shape 1"/>
          <p:cNvSpPr/>
          <p:nvPr/>
        </p:nvSpPr>
        <p:spPr>
          <a:xfrm>
            <a:off x="396835" y="2267903"/>
            <a:ext cx="6861691" cy="641628"/>
          </a:xfrm>
          <a:prstGeom prst="roundRect">
            <a:avLst>
              <a:gd name="adj" fmla="val 7424"/>
            </a:avLst>
          </a:prstGeom>
          <a:solidFill>
            <a:srgbClr val="101620"/>
          </a:solidFill>
          <a:ln w="7620">
            <a:solidFill>
              <a:srgbClr val="002A80"/>
            </a:solidFill>
            <a:prstDash val="solid"/>
          </a:ln>
        </p:spPr>
      </p:sp>
      <p:sp>
        <p:nvSpPr>
          <p:cNvPr id="5" name="Text 2"/>
          <p:cNvSpPr/>
          <p:nvPr/>
        </p:nvSpPr>
        <p:spPr>
          <a:xfrm>
            <a:off x="517803" y="2388870"/>
            <a:ext cx="1579840"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Personalised Outreach</a:t>
            </a:r>
            <a:endParaRPr lang="en-US" sz="1100" dirty="0"/>
          </a:p>
        </p:txBody>
      </p:sp>
      <p:sp>
        <p:nvSpPr>
          <p:cNvPr id="6" name="Text 3"/>
          <p:cNvSpPr/>
          <p:nvPr/>
        </p:nvSpPr>
        <p:spPr>
          <a:xfrm>
            <a:off x="517803" y="2641163"/>
            <a:ext cx="6619756"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Contact at-risk customers with tailored messages addressing their specific pain points, usage patterns, and preferences</a:t>
            </a:r>
            <a:endParaRPr lang="en-US" sz="850" dirty="0"/>
          </a:p>
        </p:txBody>
      </p:sp>
      <p:sp>
        <p:nvSpPr>
          <p:cNvPr id="7" name="Shape 4"/>
          <p:cNvSpPr/>
          <p:nvPr/>
        </p:nvSpPr>
        <p:spPr>
          <a:xfrm>
            <a:off x="7371874" y="2267903"/>
            <a:ext cx="6861691" cy="641628"/>
          </a:xfrm>
          <a:prstGeom prst="roundRect">
            <a:avLst>
              <a:gd name="adj" fmla="val 7424"/>
            </a:avLst>
          </a:prstGeom>
          <a:solidFill>
            <a:srgbClr val="101620"/>
          </a:solidFill>
          <a:ln w="7620">
            <a:solidFill>
              <a:srgbClr val="002A80"/>
            </a:solidFill>
            <a:prstDash val="solid"/>
          </a:ln>
        </p:spPr>
      </p:sp>
      <p:sp>
        <p:nvSpPr>
          <p:cNvPr id="8" name="Text 5"/>
          <p:cNvSpPr/>
          <p:nvPr/>
        </p:nvSpPr>
        <p:spPr>
          <a:xfrm>
            <a:off x="7492841" y="2388870"/>
            <a:ext cx="1559123"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Incentive Programmes</a:t>
            </a:r>
            <a:endParaRPr lang="en-US" sz="1100" dirty="0"/>
          </a:p>
        </p:txBody>
      </p:sp>
      <p:sp>
        <p:nvSpPr>
          <p:cNvPr id="9" name="Text 6"/>
          <p:cNvSpPr/>
          <p:nvPr/>
        </p:nvSpPr>
        <p:spPr>
          <a:xfrm>
            <a:off x="7492841" y="2641163"/>
            <a:ext cx="6619756"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Offer targeted discounts, exclusive features, or loyalty rewards to high-value customers showing churn indicators</a:t>
            </a:r>
            <a:endParaRPr lang="en-US" sz="850" dirty="0"/>
          </a:p>
        </p:txBody>
      </p:sp>
      <p:sp>
        <p:nvSpPr>
          <p:cNvPr id="10" name="Shape 7"/>
          <p:cNvSpPr/>
          <p:nvPr/>
        </p:nvSpPr>
        <p:spPr>
          <a:xfrm>
            <a:off x="396835" y="3022878"/>
            <a:ext cx="6861691" cy="641628"/>
          </a:xfrm>
          <a:prstGeom prst="roundRect">
            <a:avLst>
              <a:gd name="adj" fmla="val 7424"/>
            </a:avLst>
          </a:prstGeom>
          <a:solidFill>
            <a:srgbClr val="101620"/>
          </a:solidFill>
          <a:ln w="7620">
            <a:solidFill>
              <a:srgbClr val="002A80"/>
            </a:solidFill>
            <a:prstDash val="solid"/>
          </a:ln>
        </p:spPr>
      </p:sp>
      <p:sp>
        <p:nvSpPr>
          <p:cNvPr id="11" name="Text 8"/>
          <p:cNvSpPr/>
          <p:nvPr/>
        </p:nvSpPr>
        <p:spPr>
          <a:xfrm>
            <a:off x="517803" y="3143845"/>
            <a:ext cx="1578650"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Product Improvements</a:t>
            </a:r>
            <a:endParaRPr lang="en-US" sz="1100" dirty="0"/>
          </a:p>
        </p:txBody>
      </p:sp>
      <p:sp>
        <p:nvSpPr>
          <p:cNvPr id="12" name="Text 9"/>
          <p:cNvSpPr/>
          <p:nvPr/>
        </p:nvSpPr>
        <p:spPr>
          <a:xfrm>
            <a:off x="517803" y="3396139"/>
            <a:ext cx="6619756"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Use churn insights to prioritise feature development and address common friction points in the customer journey</a:t>
            </a:r>
            <a:endParaRPr lang="en-US" sz="850" dirty="0"/>
          </a:p>
        </p:txBody>
      </p:sp>
      <p:sp>
        <p:nvSpPr>
          <p:cNvPr id="13" name="Shape 10"/>
          <p:cNvSpPr/>
          <p:nvPr/>
        </p:nvSpPr>
        <p:spPr>
          <a:xfrm>
            <a:off x="7371874" y="3022878"/>
            <a:ext cx="6861691" cy="641628"/>
          </a:xfrm>
          <a:prstGeom prst="roundRect">
            <a:avLst>
              <a:gd name="adj" fmla="val 7424"/>
            </a:avLst>
          </a:prstGeom>
          <a:solidFill>
            <a:srgbClr val="101620"/>
          </a:solidFill>
          <a:ln w="7620">
            <a:solidFill>
              <a:srgbClr val="002A80"/>
            </a:solidFill>
            <a:prstDash val="solid"/>
          </a:ln>
        </p:spPr>
      </p:sp>
      <p:sp>
        <p:nvSpPr>
          <p:cNvPr id="14" name="Text 11"/>
          <p:cNvSpPr/>
          <p:nvPr/>
        </p:nvSpPr>
        <p:spPr>
          <a:xfrm>
            <a:off x="7492841" y="3143845"/>
            <a:ext cx="1417558" cy="184309"/>
          </a:xfrm>
          <a:prstGeom prst="rect">
            <a:avLst/>
          </a:prstGeom>
          <a:noFill/>
          <a:ln/>
        </p:spPr>
        <p:txBody>
          <a:bodyPr wrap="none" lIns="0" tIns="0" rIns="0" bIns="0" rtlCol="0" anchor="t"/>
          <a:lstStyle/>
          <a:p>
            <a:pPr marL="0" indent="0" algn="l">
              <a:lnSpc>
                <a:spcPts val="1450"/>
              </a:lnSpc>
              <a:buNone/>
            </a:pPr>
            <a:r>
              <a:rPr lang="en-US" sz="1100" b="1" dirty="0">
                <a:solidFill>
                  <a:srgbClr val="EBEDF0"/>
                </a:solidFill>
                <a:latin typeface="Geist Bold" pitchFamily="34" charset="0"/>
                <a:ea typeface="Geist Bold" pitchFamily="34" charset="-122"/>
                <a:cs typeface="Geist Bold" pitchFamily="34" charset="-120"/>
              </a:rPr>
              <a:t>Proactive Support</a:t>
            </a:r>
            <a:endParaRPr lang="en-US" sz="1100" dirty="0"/>
          </a:p>
        </p:txBody>
      </p:sp>
      <p:sp>
        <p:nvSpPr>
          <p:cNvPr id="15" name="Text 12"/>
          <p:cNvSpPr/>
          <p:nvPr/>
        </p:nvSpPr>
        <p:spPr>
          <a:xfrm>
            <a:off x="7492841" y="3396139"/>
            <a:ext cx="6619756" cy="147399"/>
          </a:xfrm>
          <a:prstGeom prst="rect">
            <a:avLst/>
          </a:prstGeom>
          <a:noFill/>
          <a:ln/>
        </p:spPr>
        <p:txBody>
          <a:bodyPr wrap="none" lIns="0" tIns="0" rIns="0" bIns="0" rtlCol="0" anchor="t"/>
          <a:lstStyle/>
          <a:p>
            <a:pPr marL="0" indent="0" algn="l">
              <a:lnSpc>
                <a:spcPts val="1150"/>
              </a:lnSpc>
              <a:buNone/>
            </a:pPr>
            <a:r>
              <a:rPr lang="en-US" sz="850" dirty="0">
                <a:solidFill>
                  <a:srgbClr val="EBEDF0"/>
                </a:solidFill>
                <a:latin typeface="Geist" pitchFamily="34" charset="0"/>
                <a:ea typeface="Geist" pitchFamily="34" charset="-122"/>
                <a:cs typeface="Geist" pitchFamily="34" charset="-120"/>
              </a:rPr>
              <a:t>Reach out to struggling customers before they contact support, offering assistance and demonstrating value</a:t>
            </a:r>
            <a:endParaRPr lang="en-US" sz="850" dirty="0"/>
          </a:p>
        </p:txBody>
      </p:sp>
      <p:sp>
        <p:nvSpPr>
          <p:cNvPr id="16" name="Text 13"/>
          <p:cNvSpPr/>
          <p:nvPr/>
        </p:nvSpPr>
        <p:spPr>
          <a:xfrm>
            <a:off x="396835" y="3905369"/>
            <a:ext cx="1746052" cy="184309"/>
          </a:xfrm>
          <a:prstGeom prst="rect">
            <a:avLst/>
          </a:prstGeom>
          <a:noFill/>
          <a:ln/>
        </p:spPr>
        <p:txBody>
          <a:bodyPr wrap="none" lIns="0" tIns="0" rIns="0" bIns="0" rtlCol="0" anchor="t"/>
          <a:lstStyle/>
          <a:p>
            <a:pPr marL="0" indent="0" algn="l">
              <a:lnSpc>
                <a:spcPts val="1450"/>
              </a:lnSpc>
              <a:buNone/>
            </a:pPr>
            <a:r>
              <a:rPr lang="en-US" sz="1100" b="1" dirty="0">
                <a:solidFill>
                  <a:srgbClr val="F2F5FA"/>
                </a:solidFill>
                <a:latin typeface="Geist Bold" pitchFamily="34" charset="0"/>
                <a:ea typeface="Geist Bold" pitchFamily="34" charset="-122"/>
                <a:cs typeface="Geist Bold" pitchFamily="34" charset="-120"/>
              </a:rPr>
              <a:t>Campaign Best Practises</a:t>
            </a:r>
            <a:endParaRPr lang="en-US" sz="1100" dirty="0"/>
          </a:p>
        </p:txBody>
      </p:sp>
      <p:sp>
        <p:nvSpPr>
          <p:cNvPr id="17" name="Text 14"/>
          <p:cNvSpPr/>
          <p:nvPr/>
        </p:nvSpPr>
        <p:spPr>
          <a:xfrm>
            <a:off x="396835" y="4203025"/>
            <a:ext cx="7485578" cy="147399"/>
          </a:xfrm>
          <a:prstGeom prst="rect">
            <a:avLst/>
          </a:prstGeom>
          <a:noFill/>
          <a:ln/>
        </p:spPr>
        <p:txBody>
          <a:bodyPr wrap="none" lIns="0" tIns="0" rIns="0" bIns="0" rtlCol="0" anchor="t"/>
          <a:lstStyle/>
          <a:p>
            <a:pPr marL="342900" indent="-342900" algn="l">
              <a:lnSpc>
                <a:spcPts val="1150"/>
              </a:lnSpc>
              <a:buSzPct val="100000"/>
              <a:buFont typeface="+mj-lt"/>
              <a:buAutoNum type="arabicPeriod"/>
            </a:pPr>
            <a:r>
              <a:rPr lang="en-US" sz="850" dirty="0">
                <a:solidFill>
                  <a:srgbClr val="EBEDF0"/>
                </a:solidFill>
                <a:latin typeface="Geist" pitchFamily="34" charset="0"/>
                <a:ea typeface="Geist" pitchFamily="34" charset="-122"/>
                <a:cs typeface="Geist" pitchFamily="34" charset="-120"/>
              </a:rPr>
              <a:t>Segment interventions based on churn probability and customer value</a:t>
            </a:r>
            <a:endParaRPr lang="en-US" sz="850" dirty="0"/>
          </a:p>
        </p:txBody>
      </p:sp>
      <p:sp>
        <p:nvSpPr>
          <p:cNvPr id="18" name="Text 15"/>
          <p:cNvSpPr/>
          <p:nvPr/>
        </p:nvSpPr>
        <p:spPr>
          <a:xfrm>
            <a:off x="396835" y="4390073"/>
            <a:ext cx="7485578" cy="147399"/>
          </a:xfrm>
          <a:prstGeom prst="rect">
            <a:avLst/>
          </a:prstGeom>
          <a:noFill/>
          <a:ln/>
        </p:spPr>
        <p:txBody>
          <a:bodyPr wrap="none" lIns="0" tIns="0" rIns="0" bIns="0" rtlCol="0" anchor="t"/>
          <a:lstStyle/>
          <a:p>
            <a:pPr marL="342900" indent="-342900" algn="l">
              <a:lnSpc>
                <a:spcPts val="1150"/>
              </a:lnSpc>
              <a:buSzPct val="100000"/>
              <a:buFont typeface="+mj-lt"/>
              <a:buAutoNum type="arabicPeriod" startAt="2"/>
            </a:pPr>
            <a:r>
              <a:rPr lang="en-US" sz="850" dirty="0">
                <a:solidFill>
                  <a:srgbClr val="EBEDF0"/>
                </a:solidFill>
                <a:latin typeface="Geist" pitchFamily="34" charset="0"/>
                <a:ea typeface="Geist" pitchFamily="34" charset="-122"/>
                <a:cs typeface="Geist" pitchFamily="34" charset="-120"/>
              </a:rPr>
              <a:t>Test multiple retention strategies and measure effectiveness</a:t>
            </a:r>
            <a:endParaRPr lang="en-US" sz="850" dirty="0"/>
          </a:p>
        </p:txBody>
      </p:sp>
      <p:sp>
        <p:nvSpPr>
          <p:cNvPr id="19" name="Text 16"/>
          <p:cNvSpPr/>
          <p:nvPr/>
        </p:nvSpPr>
        <p:spPr>
          <a:xfrm>
            <a:off x="396835" y="4577120"/>
            <a:ext cx="7485578" cy="147399"/>
          </a:xfrm>
          <a:prstGeom prst="rect">
            <a:avLst/>
          </a:prstGeom>
          <a:noFill/>
          <a:ln/>
        </p:spPr>
        <p:txBody>
          <a:bodyPr wrap="none" lIns="0" tIns="0" rIns="0" bIns="0" rtlCol="0" anchor="t"/>
          <a:lstStyle/>
          <a:p>
            <a:pPr marL="342900" indent="-342900" algn="l">
              <a:lnSpc>
                <a:spcPts val="1150"/>
              </a:lnSpc>
              <a:buSzPct val="100000"/>
              <a:buFont typeface="+mj-lt"/>
              <a:buAutoNum type="arabicPeriod" startAt="3"/>
            </a:pPr>
            <a:r>
              <a:rPr lang="en-US" sz="850" dirty="0">
                <a:solidFill>
                  <a:srgbClr val="EBEDF0"/>
                </a:solidFill>
                <a:latin typeface="Geist" pitchFamily="34" charset="0"/>
                <a:ea typeface="Geist" pitchFamily="34" charset="-122"/>
                <a:cs typeface="Geist" pitchFamily="34" charset="-120"/>
              </a:rPr>
              <a:t>Time outreach strategically during critical decision windows</a:t>
            </a:r>
            <a:endParaRPr lang="en-US" sz="850" dirty="0"/>
          </a:p>
        </p:txBody>
      </p:sp>
      <p:sp>
        <p:nvSpPr>
          <p:cNvPr id="20" name="Text 17"/>
          <p:cNvSpPr/>
          <p:nvPr/>
        </p:nvSpPr>
        <p:spPr>
          <a:xfrm>
            <a:off x="396835" y="4764167"/>
            <a:ext cx="7485578" cy="147399"/>
          </a:xfrm>
          <a:prstGeom prst="rect">
            <a:avLst/>
          </a:prstGeom>
          <a:noFill/>
          <a:ln/>
        </p:spPr>
        <p:txBody>
          <a:bodyPr wrap="none" lIns="0" tIns="0" rIns="0" bIns="0" rtlCol="0" anchor="t"/>
          <a:lstStyle/>
          <a:p>
            <a:pPr marL="342900" indent="-342900" algn="l">
              <a:lnSpc>
                <a:spcPts val="1150"/>
              </a:lnSpc>
              <a:buSzPct val="100000"/>
              <a:buFont typeface="+mj-lt"/>
              <a:buAutoNum type="arabicPeriod" startAt="4"/>
            </a:pPr>
            <a:r>
              <a:rPr lang="en-US" sz="850" dirty="0">
                <a:solidFill>
                  <a:srgbClr val="EBEDF0"/>
                </a:solidFill>
                <a:latin typeface="Geist" pitchFamily="34" charset="0"/>
                <a:ea typeface="Geist" pitchFamily="34" charset="-122"/>
                <a:cs typeface="Geist" pitchFamily="34" charset="-120"/>
              </a:rPr>
              <a:t>Combine automated triggers with human touchpoints</a:t>
            </a:r>
            <a:endParaRPr lang="en-US" sz="850" dirty="0"/>
          </a:p>
        </p:txBody>
      </p:sp>
      <p:sp>
        <p:nvSpPr>
          <p:cNvPr id="21" name="Text 18"/>
          <p:cNvSpPr/>
          <p:nvPr/>
        </p:nvSpPr>
        <p:spPr>
          <a:xfrm>
            <a:off x="396835" y="4951214"/>
            <a:ext cx="7485578" cy="147399"/>
          </a:xfrm>
          <a:prstGeom prst="rect">
            <a:avLst/>
          </a:prstGeom>
          <a:noFill/>
          <a:ln/>
        </p:spPr>
        <p:txBody>
          <a:bodyPr wrap="none" lIns="0" tIns="0" rIns="0" bIns="0" rtlCol="0" anchor="t"/>
          <a:lstStyle/>
          <a:p>
            <a:pPr marL="342900" indent="-342900" algn="l">
              <a:lnSpc>
                <a:spcPts val="1150"/>
              </a:lnSpc>
              <a:buSzPct val="100000"/>
              <a:buFont typeface="+mj-lt"/>
              <a:buAutoNum type="arabicPeriod" startAt="5"/>
            </a:pPr>
            <a:r>
              <a:rPr lang="en-US" sz="850" dirty="0">
                <a:solidFill>
                  <a:srgbClr val="EBEDF0"/>
                </a:solidFill>
                <a:latin typeface="Geist" pitchFamily="34" charset="0"/>
                <a:ea typeface="Geist" pitchFamily="34" charset="-122"/>
                <a:cs typeface="Geist" pitchFamily="34" charset="-120"/>
              </a:rPr>
              <a:t>Continuously refine approaches based on campaign results</a:t>
            </a:r>
            <a:endParaRPr lang="en-US" sz="850" dirty="0"/>
          </a:p>
        </p:txBody>
      </p:sp>
      <p:pic>
        <p:nvPicPr>
          <p:cNvPr id="22" name="Image 1" descr="preencoded.png"/>
          <p:cNvPicPr>
            <a:picLocks noChangeAspect="1"/>
          </p:cNvPicPr>
          <p:nvPr/>
        </p:nvPicPr>
        <p:blipFill>
          <a:blip r:embed="rId4"/>
          <a:stretch>
            <a:fillRect/>
          </a:stretch>
        </p:blipFill>
        <p:spPr>
          <a:xfrm>
            <a:off x="8270251" y="3988550"/>
            <a:ext cx="6367630" cy="42455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08409" y="478036"/>
            <a:ext cx="13413581" cy="1129903"/>
          </a:xfrm>
          <a:prstGeom prst="rect">
            <a:avLst/>
          </a:prstGeom>
          <a:noFill/>
          <a:ln/>
        </p:spPr>
        <p:txBody>
          <a:bodyPr wrap="square" lIns="0" tIns="0" rIns="0" bIns="0" rtlCol="0" anchor="t"/>
          <a:lstStyle/>
          <a:p>
            <a:pPr marL="0" indent="0" algn="l">
              <a:lnSpc>
                <a:spcPts val="4400"/>
              </a:lnSpc>
              <a:buNone/>
            </a:pPr>
            <a:r>
              <a:rPr lang="en-US" sz="3400" b="1" dirty="0">
                <a:solidFill>
                  <a:srgbClr val="F2F5FA"/>
                </a:solidFill>
                <a:latin typeface="Geist Bold" pitchFamily="34" charset="0"/>
                <a:ea typeface="Geist Bold" pitchFamily="34" charset="-122"/>
                <a:cs typeface="Geist Bold" pitchFamily="34" charset="-120"/>
              </a:rPr>
              <a:t>Next Steps: Building a Sustainable Churn Prevention System for Long-term Growth</a:t>
            </a:r>
            <a:endParaRPr lang="en-US" sz="3400" dirty="0"/>
          </a:p>
        </p:txBody>
      </p:sp>
      <p:sp>
        <p:nvSpPr>
          <p:cNvPr id="3" name="Shape 1"/>
          <p:cNvSpPr/>
          <p:nvPr/>
        </p:nvSpPr>
        <p:spPr>
          <a:xfrm>
            <a:off x="869156" y="2390180"/>
            <a:ext cx="6359009" cy="173831"/>
          </a:xfrm>
          <a:prstGeom prst="roundRect">
            <a:avLst>
              <a:gd name="adj" fmla="val 42004"/>
            </a:avLst>
          </a:prstGeom>
          <a:solidFill>
            <a:srgbClr val="101620"/>
          </a:solidFill>
          <a:ln w="15240">
            <a:solidFill>
              <a:srgbClr val="002A80"/>
            </a:solidFill>
            <a:prstDash val="solid"/>
          </a:ln>
        </p:spPr>
      </p:sp>
      <p:sp>
        <p:nvSpPr>
          <p:cNvPr id="4" name="Shape 2"/>
          <p:cNvSpPr/>
          <p:nvPr/>
        </p:nvSpPr>
        <p:spPr>
          <a:xfrm>
            <a:off x="608409" y="2216348"/>
            <a:ext cx="521494" cy="521494"/>
          </a:xfrm>
          <a:prstGeom prst="roundRect">
            <a:avLst>
              <a:gd name="adj" fmla="val 87671"/>
            </a:avLst>
          </a:prstGeom>
          <a:solidFill>
            <a:srgbClr val="101620"/>
          </a:solidFill>
          <a:ln w="15240">
            <a:solidFill>
              <a:srgbClr val="002A80"/>
            </a:solidFill>
            <a:prstDash val="solid"/>
          </a:ln>
        </p:spPr>
      </p:sp>
      <p:pic>
        <p:nvPicPr>
          <p:cNvPr id="5" name="Image 0" descr="preencoded.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8783" y="2346722"/>
            <a:ext cx="260747" cy="260747"/>
          </a:xfrm>
          <a:prstGeom prst="rect">
            <a:avLst/>
          </a:prstGeom>
        </p:spPr>
      </p:pic>
      <p:sp>
        <p:nvSpPr>
          <p:cNvPr id="6" name="Text 3"/>
          <p:cNvSpPr/>
          <p:nvPr/>
        </p:nvSpPr>
        <p:spPr>
          <a:xfrm>
            <a:off x="782241" y="2911673"/>
            <a:ext cx="2235160" cy="282416"/>
          </a:xfrm>
          <a:prstGeom prst="rect">
            <a:avLst/>
          </a:prstGeom>
          <a:noFill/>
          <a:ln/>
        </p:spPr>
        <p:txBody>
          <a:bodyPr wrap="none" lIns="0" tIns="0" rIns="0" bIns="0" rtlCol="0" anchor="t"/>
          <a:lstStyle/>
          <a:p>
            <a:pPr marL="0" indent="0" algn="l">
              <a:lnSpc>
                <a:spcPts val="2200"/>
              </a:lnSpc>
              <a:buNone/>
            </a:pPr>
            <a:r>
              <a:rPr lang="en-US" sz="1700" b="1" dirty="0">
                <a:solidFill>
                  <a:srgbClr val="EBEDF0"/>
                </a:solidFill>
                <a:latin typeface="Geist Bold" pitchFamily="34" charset="0"/>
                <a:ea typeface="Geist Bold" pitchFamily="34" charset="-122"/>
                <a:cs typeface="Geist Bold" pitchFamily="34" charset="-120"/>
              </a:rPr>
              <a:t>Establish Foundation</a:t>
            </a:r>
            <a:endParaRPr lang="en-US" sz="1700" dirty="0"/>
          </a:p>
        </p:txBody>
      </p:sp>
      <p:sp>
        <p:nvSpPr>
          <p:cNvPr id="7" name="Text 4"/>
          <p:cNvSpPr/>
          <p:nvPr/>
        </p:nvSpPr>
        <p:spPr>
          <a:xfrm>
            <a:off x="782241" y="3298388"/>
            <a:ext cx="6272213" cy="451961"/>
          </a:xfrm>
          <a:prstGeom prst="rect">
            <a:avLst/>
          </a:prstGeom>
          <a:noFill/>
          <a:ln/>
        </p:spPr>
        <p:txBody>
          <a:bodyPr wrap="square" lIns="0" tIns="0" rIns="0" bIns="0" rtlCol="0" anchor="t"/>
          <a:lstStyle/>
          <a:p>
            <a:pPr marL="0" indent="0" algn="l">
              <a:lnSpc>
                <a:spcPts val="1750"/>
              </a:lnSpc>
              <a:buNone/>
            </a:pPr>
            <a:r>
              <a:rPr lang="en-US" sz="1350" dirty="0">
                <a:solidFill>
                  <a:srgbClr val="EBEDF0"/>
                </a:solidFill>
                <a:latin typeface="Geist" pitchFamily="34" charset="0"/>
                <a:ea typeface="Geist" pitchFamily="34" charset="-122"/>
                <a:cs typeface="Geist" pitchFamily="34" charset="-120"/>
              </a:rPr>
              <a:t>Build robust data infrastructure, define success metrics, and secure stakeholder buy-in across customer-facing teams</a:t>
            </a:r>
            <a:endParaRPr lang="en-US" sz="1350" dirty="0"/>
          </a:p>
        </p:txBody>
      </p:sp>
      <p:sp>
        <p:nvSpPr>
          <p:cNvPr id="8" name="Shape 5"/>
          <p:cNvSpPr/>
          <p:nvPr/>
        </p:nvSpPr>
        <p:spPr>
          <a:xfrm>
            <a:off x="7662863" y="2129433"/>
            <a:ext cx="6359009" cy="173831"/>
          </a:xfrm>
          <a:prstGeom prst="roundRect">
            <a:avLst>
              <a:gd name="adj" fmla="val 42004"/>
            </a:avLst>
          </a:prstGeom>
          <a:solidFill>
            <a:srgbClr val="101620"/>
          </a:solidFill>
          <a:ln w="15240">
            <a:solidFill>
              <a:srgbClr val="002A80"/>
            </a:solidFill>
            <a:prstDash val="solid"/>
          </a:ln>
        </p:spPr>
      </p:sp>
      <p:sp>
        <p:nvSpPr>
          <p:cNvPr id="9" name="Shape 6"/>
          <p:cNvSpPr/>
          <p:nvPr/>
        </p:nvSpPr>
        <p:spPr>
          <a:xfrm>
            <a:off x="7402116" y="1955602"/>
            <a:ext cx="521494" cy="521494"/>
          </a:xfrm>
          <a:prstGeom prst="roundRect">
            <a:avLst>
              <a:gd name="adj" fmla="val 87671"/>
            </a:avLst>
          </a:prstGeom>
          <a:solidFill>
            <a:srgbClr val="101620"/>
          </a:solidFill>
          <a:ln w="15240">
            <a:solidFill>
              <a:srgbClr val="002A80"/>
            </a:solidFill>
            <a:prstDash val="solid"/>
          </a:ln>
        </p:spPr>
      </p:sp>
      <p:pic>
        <p:nvPicPr>
          <p:cNvPr id="10" name="Image 1"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32489" y="2085975"/>
            <a:ext cx="260747" cy="260747"/>
          </a:xfrm>
          <a:prstGeom prst="rect">
            <a:avLst/>
          </a:prstGeom>
        </p:spPr>
      </p:pic>
      <p:sp>
        <p:nvSpPr>
          <p:cNvPr id="11" name="Text 7"/>
          <p:cNvSpPr/>
          <p:nvPr/>
        </p:nvSpPr>
        <p:spPr>
          <a:xfrm>
            <a:off x="7575947" y="2650927"/>
            <a:ext cx="2173010" cy="282416"/>
          </a:xfrm>
          <a:prstGeom prst="rect">
            <a:avLst/>
          </a:prstGeom>
          <a:noFill/>
          <a:ln/>
        </p:spPr>
        <p:txBody>
          <a:bodyPr wrap="none" lIns="0" tIns="0" rIns="0" bIns="0" rtlCol="0" anchor="t"/>
          <a:lstStyle/>
          <a:p>
            <a:pPr marL="0" indent="0" algn="l">
              <a:lnSpc>
                <a:spcPts val="2200"/>
              </a:lnSpc>
              <a:buNone/>
            </a:pPr>
            <a:r>
              <a:rPr lang="en-US" sz="1700" b="1" dirty="0">
                <a:solidFill>
                  <a:srgbClr val="EBEDF0"/>
                </a:solidFill>
                <a:latin typeface="Geist Bold" pitchFamily="34" charset="0"/>
                <a:ea typeface="Geist Bold" pitchFamily="34" charset="-122"/>
                <a:cs typeface="Geist Bold" pitchFamily="34" charset="-120"/>
              </a:rPr>
              <a:t>Deploy Models</a:t>
            </a:r>
            <a:endParaRPr lang="en-US" sz="1700" dirty="0"/>
          </a:p>
        </p:txBody>
      </p:sp>
      <p:sp>
        <p:nvSpPr>
          <p:cNvPr id="12" name="Text 8"/>
          <p:cNvSpPr/>
          <p:nvPr/>
        </p:nvSpPr>
        <p:spPr>
          <a:xfrm>
            <a:off x="7575947" y="3037642"/>
            <a:ext cx="6272213" cy="451961"/>
          </a:xfrm>
          <a:prstGeom prst="rect">
            <a:avLst/>
          </a:prstGeom>
          <a:noFill/>
          <a:ln/>
        </p:spPr>
        <p:txBody>
          <a:bodyPr wrap="square" lIns="0" tIns="0" rIns="0" bIns="0" rtlCol="0" anchor="t"/>
          <a:lstStyle/>
          <a:p>
            <a:pPr marL="0" indent="0" algn="l">
              <a:lnSpc>
                <a:spcPts val="1750"/>
              </a:lnSpc>
              <a:buNone/>
            </a:pPr>
            <a:r>
              <a:rPr lang="en-US" sz="1350" dirty="0">
                <a:solidFill>
                  <a:srgbClr val="EBEDF0"/>
                </a:solidFill>
                <a:latin typeface="Geist" pitchFamily="34" charset="0"/>
                <a:ea typeface="Geist" pitchFamily="34" charset="-122"/>
                <a:cs typeface="Geist" pitchFamily="34" charset="-120"/>
              </a:rPr>
              <a:t>Implement initial prediction models in production, integrate with existing CRM systems, and automate risk scoring</a:t>
            </a:r>
            <a:endParaRPr lang="en-US" sz="1350" dirty="0"/>
          </a:p>
        </p:txBody>
      </p:sp>
      <p:sp>
        <p:nvSpPr>
          <p:cNvPr id="13" name="Shape 9"/>
          <p:cNvSpPr/>
          <p:nvPr/>
        </p:nvSpPr>
        <p:spPr>
          <a:xfrm>
            <a:off x="869156" y="4532590"/>
            <a:ext cx="6359009" cy="173831"/>
          </a:xfrm>
          <a:prstGeom prst="roundRect">
            <a:avLst>
              <a:gd name="adj" fmla="val 42004"/>
            </a:avLst>
          </a:prstGeom>
          <a:solidFill>
            <a:srgbClr val="101620"/>
          </a:solidFill>
          <a:ln w="15240">
            <a:solidFill>
              <a:srgbClr val="002A80"/>
            </a:solidFill>
            <a:prstDash val="solid"/>
          </a:ln>
        </p:spPr>
      </p:sp>
      <p:sp>
        <p:nvSpPr>
          <p:cNvPr id="14" name="Shape 10"/>
          <p:cNvSpPr/>
          <p:nvPr/>
        </p:nvSpPr>
        <p:spPr>
          <a:xfrm>
            <a:off x="608409" y="4358759"/>
            <a:ext cx="521494" cy="521494"/>
          </a:xfrm>
          <a:prstGeom prst="roundRect">
            <a:avLst>
              <a:gd name="adj" fmla="val 87671"/>
            </a:avLst>
          </a:prstGeom>
          <a:solidFill>
            <a:srgbClr val="101620"/>
          </a:solidFill>
          <a:ln w="15240">
            <a:solidFill>
              <a:srgbClr val="002A80"/>
            </a:solidFill>
            <a:prstDash val="solid"/>
          </a:ln>
        </p:spPr>
      </p:sp>
      <p:pic>
        <p:nvPicPr>
          <p:cNvPr id="15" name="Image 2"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38783" y="4489133"/>
            <a:ext cx="260747" cy="260747"/>
          </a:xfrm>
          <a:prstGeom prst="rect">
            <a:avLst/>
          </a:prstGeom>
        </p:spPr>
      </p:pic>
      <p:sp>
        <p:nvSpPr>
          <p:cNvPr id="16" name="Text 11"/>
          <p:cNvSpPr/>
          <p:nvPr/>
        </p:nvSpPr>
        <p:spPr>
          <a:xfrm>
            <a:off x="782241" y="5054084"/>
            <a:ext cx="2173010" cy="282416"/>
          </a:xfrm>
          <a:prstGeom prst="rect">
            <a:avLst/>
          </a:prstGeom>
          <a:noFill/>
          <a:ln/>
        </p:spPr>
        <p:txBody>
          <a:bodyPr wrap="none" lIns="0" tIns="0" rIns="0" bIns="0" rtlCol="0" anchor="t"/>
          <a:lstStyle/>
          <a:p>
            <a:pPr marL="0" indent="0" algn="l">
              <a:lnSpc>
                <a:spcPts val="2200"/>
              </a:lnSpc>
              <a:buNone/>
            </a:pPr>
            <a:r>
              <a:rPr lang="en-US" sz="1700" b="1" dirty="0">
                <a:solidFill>
                  <a:srgbClr val="EBEDF0"/>
                </a:solidFill>
                <a:latin typeface="Geist Bold" pitchFamily="34" charset="0"/>
                <a:ea typeface="Geist Bold" pitchFamily="34" charset="-122"/>
                <a:cs typeface="Geist Bold" pitchFamily="34" charset="-120"/>
              </a:rPr>
              <a:t>Test &amp; Learn</a:t>
            </a:r>
            <a:endParaRPr lang="en-US" sz="1700" dirty="0"/>
          </a:p>
        </p:txBody>
      </p:sp>
      <p:sp>
        <p:nvSpPr>
          <p:cNvPr id="17" name="Text 12"/>
          <p:cNvSpPr/>
          <p:nvPr/>
        </p:nvSpPr>
        <p:spPr>
          <a:xfrm>
            <a:off x="782241" y="5440799"/>
            <a:ext cx="6272213" cy="451961"/>
          </a:xfrm>
          <a:prstGeom prst="rect">
            <a:avLst/>
          </a:prstGeom>
          <a:noFill/>
          <a:ln/>
        </p:spPr>
        <p:txBody>
          <a:bodyPr wrap="square" lIns="0" tIns="0" rIns="0" bIns="0" rtlCol="0" anchor="t"/>
          <a:lstStyle/>
          <a:p>
            <a:pPr marL="0" indent="0" algn="l">
              <a:lnSpc>
                <a:spcPts val="1750"/>
              </a:lnSpc>
              <a:buNone/>
            </a:pPr>
            <a:r>
              <a:rPr lang="en-US" sz="1350" dirty="0">
                <a:solidFill>
                  <a:srgbClr val="EBEDF0"/>
                </a:solidFill>
                <a:latin typeface="Geist" pitchFamily="34" charset="0"/>
                <a:ea typeface="Geist" pitchFamily="34" charset="-122"/>
                <a:cs typeface="Geist" pitchFamily="34" charset="-120"/>
              </a:rPr>
              <a:t>Run controlled experiments comparing retention strategies, measure ROI, and iterate based on performance data</a:t>
            </a:r>
            <a:endParaRPr lang="en-US" sz="1350" dirty="0"/>
          </a:p>
        </p:txBody>
      </p:sp>
      <p:sp>
        <p:nvSpPr>
          <p:cNvPr id="18" name="Shape 13"/>
          <p:cNvSpPr/>
          <p:nvPr/>
        </p:nvSpPr>
        <p:spPr>
          <a:xfrm>
            <a:off x="7662863" y="4271843"/>
            <a:ext cx="6359009" cy="173831"/>
          </a:xfrm>
          <a:prstGeom prst="roundRect">
            <a:avLst>
              <a:gd name="adj" fmla="val 42004"/>
            </a:avLst>
          </a:prstGeom>
          <a:solidFill>
            <a:srgbClr val="101620"/>
          </a:solidFill>
          <a:ln w="15240">
            <a:solidFill>
              <a:srgbClr val="002A80"/>
            </a:solidFill>
            <a:prstDash val="solid"/>
          </a:ln>
        </p:spPr>
      </p:sp>
      <p:sp>
        <p:nvSpPr>
          <p:cNvPr id="19" name="Shape 14"/>
          <p:cNvSpPr/>
          <p:nvPr/>
        </p:nvSpPr>
        <p:spPr>
          <a:xfrm>
            <a:off x="7402116" y="4098012"/>
            <a:ext cx="521494" cy="521494"/>
          </a:xfrm>
          <a:prstGeom prst="roundRect">
            <a:avLst>
              <a:gd name="adj" fmla="val 87671"/>
            </a:avLst>
          </a:prstGeom>
          <a:solidFill>
            <a:srgbClr val="101620"/>
          </a:solidFill>
          <a:ln w="15240">
            <a:solidFill>
              <a:srgbClr val="002A80"/>
            </a:solidFill>
            <a:prstDash val="solid"/>
          </a:ln>
        </p:spPr>
      </p:sp>
      <p:pic>
        <p:nvPicPr>
          <p:cNvPr id="20" name="Image 3"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32489" y="4228386"/>
            <a:ext cx="260747" cy="260747"/>
          </a:xfrm>
          <a:prstGeom prst="rect">
            <a:avLst/>
          </a:prstGeom>
        </p:spPr>
      </p:pic>
      <p:sp>
        <p:nvSpPr>
          <p:cNvPr id="21" name="Text 15"/>
          <p:cNvSpPr/>
          <p:nvPr/>
        </p:nvSpPr>
        <p:spPr>
          <a:xfrm>
            <a:off x="7575947" y="4793337"/>
            <a:ext cx="2173010" cy="282416"/>
          </a:xfrm>
          <a:prstGeom prst="rect">
            <a:avLst/>
          </a:prstGeom>
          <a:noFill/>
          <a:ln/>
        </p:spPr>
        <p:txBody>
          <a:bodyPr wrap="none" lIns="0" tIns="0" rIns="0" bIns="0" rtlCol="0" anchor="t"/>
          <a:lstStyle/>
          <a:p>
            <a:pPr marL="0" indent="0" algn="l">
              <a:lnSpc>
                <a:spcPts val="2200"/>
              </a:lnSpc>
              <a:buNone/>
            </a:pPr>
            <a:r>
              <a:rPr lang="en-US" sz="1700" b="1" dirty="0">
                <a:solidFill>
                  <a:srgbClr val="EBEDF0"/>
                </a:solidFill>
                <a:latin typeface="Geist Bold" pitchFamily="34" charset="0"/>
                <a:ea typeface="Geist Bold" pitchFamily="34" charset="-122"/>
                <a:cs typeface="Geist Bold" pitchFamily="34" charset="-120"/>
              </a:rPr>
              <a:t>Scale &amp; Optimise</a:t>
            </a:r>
            <a:endParaRPr lang="en-US" sz="1700" dirty="0"/>
          </a:p>
        </p:txBody>
      </p:sp>
      <p:sp>
        <p:nvSpPr>
          <p:cNvPr id="22" name="Text 16"/>
          <p:cNvSpPr/>
          <p:nvPr/>
        </p:nvSpPr>
        <p:spPr>
          <a:xfrm>
            <a:off x="7575947" y="5180052"/>
            <a:ext cx="6272213" cy="451961"/>
          </a:xfrm>
          <a:prstGeom prst="rect">
            <a:avLst/>
          </a:prstGeom>
          <a:noFill/>
          <a:ln/>
        </p:spPr>
        <p:txBody>
          <a:bodyPr wrap="square" lIns="0" tIns="0" rIns="0" bIns="0" rtlCol="0" anchor="t"/>
          <a:lstStyle/>
          <a:p>
            <a:pPr marL="0" indent="0" algn="l">
              <a:lnSpc>
                <a:spcPts val="1750"/>
              </a:lnSpc>
              <a:buNone/>
            </a:pPr>
            <a:r>
              <a:rPr lang="en-US" sz="1350" dirty="0">
                <a:solidFill>
                  <a:srgbClr val="EBEDF0"/>
                </a:solidFill>
                <a:latin typeface="Geist" pitchFamily="34" charset="0"/>
                <a:ea typeface="Geist" pitchFamily="34" charset="-122"/>
                <a:cs typeface="Geist" pitchFamily="34" charset="-120"/>
              </a:rPr>
              <a:t>Expand successful interventions, refine models with new data, and build organisational capabilities for ongoing improvement</a:t>
            </a:r>
            <a:endParaRPr lang="en-US" sz="1350" dirty="0"/>
          </a:p>
        </p:txBody>
      </p:sp>
      <p:sp>
        <p:nvSpPr>
          <p:cNvPr id="23" name="Text 17"/>
          <p:cNvSpPr/>
          <p:nvPr/>
        </p:nvSpPr>
        <p:spPr>
          <a:xfrm>
            <a:off x="869156" y="6457593"/>
            <a:ext cx="13152834" cy="451961"/>
          </a:xfrm>
          <a:prstGeom prst="rect">
            <a:avLst/>
          </a:prstGeom>
          <a:noFill/>
          <a:ln/>
        </p:spPr>
        <p:txBody>
          <a:bodyPr wrap="square" lIns="0" tIns="0" rIns="0" bIns="0" rtlCol="0" anchor="t"/>
          <a:lstStyle/>
          <a:p>
            <a:pPr marL="0" indent="0" algn="l">
              <a:lnSpc>
                <a:spcPts val="1750"/>
              </a:lnSpc>
              <a:buNone/>
            </a:pPr>
            <a:r>
              <a:rPr lang="en-US" sz="1350" i="1" dirty="0">
                <a:solidFill>
                  <a:srgbClr val="EBEDF0"/>
                </a:solidFill>
                <a:latin typeface="Geist" pitchFamily="34" charset="0"/>
                <a:ea typeface="Geist" pitchFamily="34" charset="-122"/>
                <a:cs typeface="Geist" pitchFamily="34" charset="-120"/>
              </a:rPr>
              <a:t>"Successful churn prevention isn't a one-time project—it's an ongoing commitment to understanding your customers, anticipating their needs, and continuously delivering value that keeps them engaged and loyal."</a:t>
            </a:r>
            <a:endParaRPr lang="en-US" sz="1350" dirty="0"/>
          </a:p>
        </p:txBody>
      </p:sp>
      <p:sp>
        <p:nvSpPr>
          <p:cNvPr id="24" name="Shape 18"/>
          <p:cNvSpPr/>
          <p:nvPr/>
        </p:nvSpPr>
        <p:spPr>
          <a:xfrm>
            <a:off x="608409" y="6262092"/>
            <a:ext cx="22860" cy="842963"/>
          </a:xfrm>
          <a:prstGeom prst="rect">
            <a:avLst/>
          </a:prstGeom>
          <a:solidFill>
            <a:srgbClr val="6296FF"/>
          </a:solidFill>
          <a:ln/>
        </p:spPr>
      </p:sp>
      <p:sp>
        <p:nvSpPr>
          <p:cNvPr id="25" name="Text 19"/>
          <p:cNvSpPr/>
          <p:nvPr/>
        </p:nvSpPr>
        <p:spPr>
          <a:xfrm>
            <a:off x="608409" y="7300555"/>
            <a:ext cx="13413581" cy="451961"/>
          </a:xfrm>
          <a:prstGeom prst="rect">
            <a:avLst/>
          </a:prstGeom>
          <a:noFill/>
          <a:ln/>
        </p:spPr>
        <p:txBody>
          <a:bodyPr wrap="square" lIns="0" tIns="0" rIns="0" bIns="0" rtlCol="0" anchor="t"/>
          <a:lstStyle/>
          <a:p>
            <a:pPr marL="0" indent="0" algn="l">
              <a:lnSpc>
                <a:spcPts val="1750"/>
              </a:lnSpc>
              <a:buNone/>
            </a:pPr>
            <a:r>
              <a:rPr lang="en-US" sz="1350" dirty="0">
                <a:solidFill>
                  <a:srgbClr val="EBEDF0"/>
                </a:solidFill>
                <a:latin typeface="Geist" pitchFamily="34" charset="0"/>
                <a:ea typeface="Geist" pitchFamily="34" charset="-122"/>
                <a:cs typeface="Geist" pitchFamily="34" charset="-120"/>
              </a:rPr>
              <a:t>Start your churn prevention journey today by identifying your highest-risk customers, implementing targeted retention campaigns, and building the analytics capabilities that will drive sustainable growth for years to come.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10</Slides>
  <Notes>10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51</cp:revision>
  <dcterms:created xsi:type="dcterms:W3CDTF">2025-11-17T08:37:08Z</dcterms:created>
  <dcterms:modified xsi:type="dcterms:W3CDTF">2025-11-17T12:51:36Z</dcterms:modified>
</cp:coreProperties>
</file>